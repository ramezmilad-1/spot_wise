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0078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 want to show you SpotWise — a travel app I built with Flutter. The idea is simple: travellers know the best places, so why not let them share those places with each other? In this short presentation I'll show you how the app is set up and built, and then walk through its main features: discovering spots, the community side, the AI trip planner, and the admin tools that keep everything safe. Everything you'll see on these slides is a real screenshot taken from the app.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SpotWise? It's a community travel app. Think of it in three steps. First, discover: you browse real places — cafés, beaches, viewpoints, hidden gems — shared by other travellers and organised by country and city. Second, share: any user can add their own favourite spot, with photos and a location, and leave reviews on places they've visited. Third, plan: the app has an AI planner that takes those community spots and turns them into a complete day-by-day trip. The screenshot on the right is the first thing a new user sees when they open the app.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quickly explain how it's built — and how easy it is to set up. The whole app is one Flutter codebase, so the same code runs on Android, iOS and the web. Firebase handles the backend: user accounts, a live realtime database for the spots, and photo storage. The maps come from OpenStreetMap, which is completely free — no paid map keys needed. And the AI planner is powered by Google Gemini. Setup is simple: you clone the project and add three keys to a small .env file — the Firebase database link, the Firebase key, and a Gemini key. Then flutter pub get and flutter run, and you're in. One nice detail: if you leave the keys empty, the app still runs fully, using built-in demo data — so anyone can try it with zero configuration.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things live outside the app itself — they are cloud services the app talks to. First, Firebase: it stores the user accounts, keeps the spots database live across devices, and holds the photos. Second, Google Gemini: this is the real AI that writes the trip plans. Third, push notifications: the app sends reminders — for example before a trip starts — and these work on Android, using on-device notifications now and Firebase Cloud Messaging for cross-device push. The screen on the left is a real page inside the app that shows each service and whether it is connected. The screen on the right shows real notifications the app has sent. And the clever part: all three are optional — if you don't add the keys, the app quietly falls back to on-device data, so it never breaks.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app: finding places worth visiting. On the home screen you pick a country and a city — or just search. You can filter by category: food, beaches, history, nightlife and more. The home feed shows featured spots and personal recommendations. And everything also lives on a live map, so you can see exactly what's around you — the markers group together when you zoom out, like in the screenshot on the right. Right now the demo data already has around 60 spots across 13 cities and 12 countries.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SpotWise special is that the content comes from real people. Adding a spot is one simple form: photos, a name, a short description, a category, and the location — you can capture your GPS position or pick the point on a map. On the left you can see a finished spot page: photo gallery, rating, reviews, tags, a mini map, and one-tap buttons to save it or add it to a trip. Spots can also be marked as verified, so users know which places have been checked.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my favourite part — the AI trip planner. You tell it where you want to go, your start date, how many days, what you're interested in — say food and views — and your budget level. Gemini then builds a complete day-by-day plan. The key point: it only uses real, approved spots from the community — not made-up places. Each day has timed stops with prices and durations, and the whole trip gets a cost estimate — you can see the 183-dollar budget breakdown in the screenshot. The result is saved as a trip you can rename, reorder, add notes to, and take with you. And if there's no internet or no API key, a built-in offline generator makes the plan instead, so the feature always works.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when anyone can add content, you need moderation. Every new spot goes into a queue, and an admin reviews it before it appears in the app — users even see a clear note about this when they submit. Admins also handle reports from users, manage accounts and roles, and control which categories exist. The dashboard gives live numbers at a glance: spots pending review, open reports, and the total number of live spots. This is what keeps the app clean and trustworthy.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SpotWise: real places from real travellers, on a free map, with an AI that turns them into trips — all in one Flutter app. Thank you for listening! I'd be happy to show a live demo or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822960" y="731520"/>
            <a:ext cx="384048" cy="384048"/>
          </a:xfrm>
          <a:prstGeom prst="roundRect">
            <a:avLst>
              <a:gd name="adj" fmla="val 21429"/>
            </a:avLst>
          </a:prstGeom>
          <a:solidFill>
            <a:srgbClr val="0F766E"/>
          </a:solidFill>
          <a:ln/>
        </p:spPr>
      </p:sp>
      <p:sp>
        <p:nvSpPr>
          <p:cNvPr id="3" name="Text 1"/>
          <p:cNvSpPr/>
          <p:nvPr/>
        </p:nvSpPr>
        <p:spPr>
          <a:xfrm>
            <a:off x="822960" y="731520"/>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S</a:t>
            </a:r>
            <a:endParaRPr lang="en-US" sz="1800" dirty="0"/>
          </a:p>
        </p:txBody>
      </p:sp>
      <p:sp>
        <p:nvSpPr>
          <p:cNvPr id="4" name="Text 2"/>
          <p:cNvSpPr/>
          <p:nvPr/>
        </p:nvSpPr>
        <p:spPr>
          <a:xfrm>
            <a:off x="1353312" y="731520"/>
            <a:ext cx="2286000" cy="384048"/>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SpotWise</a:t>
            </a:r>
            <a:endParaRPr lang="en-US" sz="1700" dirty="0"/>
          </a:p>
        </p:txBody>
      </p:sp>
      <p:sp>
        <p:nvSpPr>
          <p:cNvPr id="5" name="Text 3"/>
          <p:cNvSpPr/>
          <p:nvPr/>
        </p:nvSpPr>
        <p:spPr>
          <a:xfrm>
            <a:off x="786384" y="1783080"/>
            <a:ext cx="5486400" cy="2651760"/>
          </a:xfrm>
          <a:prstGeom prst="rect">
            <a:avLst/>
          </a:prstGeom>
          <a:noFill/>
          <a:ln/>
        </p:spPr>
        <p:txBody>
          <a:bodyPr wrap="square" lIns="0" tIns="0" rIns="0" bIns="0" rtlCol="0" anchor="ctr"/>
          <a:lstStyle/>
          <a:p>
            <a:pPr marL="0" indent="0">
              <a:lnSpc>
                <a:spcPts val="5800"/>
              </a:lnSpc>
              <a:buNone/>
            </a:pPr>
            <a:r>
              <a:rPr lang="en-US" sz="4700" b="1" dirty="0">
                <a:solidFill>
                  <a:srgbClr val="FFFFFF"/>
                </a:solidFill>
                <a:latin typeface="Trebuchet MS" pitchFamily="34" charset="0"/>
                <a:ea typeface="Trebuchet MS" pitchFamily="34" charset="-122"/>
                <a:cs typeface="Trebuchet MS" pitchFamily="34" charset="-120"/>
              </a:rPr>
              <a:t>Discover.</a:t>
            </a:r>
            <a:endParaRPr lang="en-US" sz="4700" dirty="0"/>
          </a:p>
          <a:p>
            <a:pPr marL="0" indent="0">
              <a:lnSpc>
                <a:spcPts val="5800"/>
              </a:lnSpc>
              <a:buNone/>
            </a:pPr>
            <a:r>
              <a:rPr lang="en-US" sz="4700" b="1" dirty="0">
                <a:solidFill>
                  <a:srgbClr val="FFFFFF"/>
                </a:solidFill>
                <a:latin typeface="Trebuchet MS" pitchFamily="34" charset="0"/>
                <a:ea typeface="Trebuchet MS" pitchFamily="34" charset="-122"/>
                <a:cs typeface="Trebuchet MS" pitchFamily="34" charset="-120"/>
              </a:rPr>
              <a:t>Plan.</a:t>
            </a:r>
            <a:endParaRPr lang="en-US" sz="4700" dirty="0"/>
          </a:p>
          <a:p>
            <a:pPr marL="0" indent="0">
              <a:lnSpc>
                <a:spcPts val="5800"/>
              </a:lnSpc>
              <a:buNone/>
            </a:pPr>
            <a:r>
              <a:rPr lang="en-US" sz="4700" b="1" dirty="0">
                <a:solidFill>
                  <a:srgbClr val="0F766E"/>
                </a:solidFill>
                <a:latin typeface="Trebuchet MS" pitchFamily="34" charset="0"/>
                <a:ea typeface="Trebuchet MS" pitchFamily="34" charset="-122"/>
                <a:cs typeface="Trebuchet MS" pitchFamily="34" charset="-120"/>
              </a:rPr>
              <a:t>Travel.</a:t>
            </a:r>
            <a:endParaRPr lang="en-US" sz="4700" dirty="0"/>
          </a:p>
        </p:txBody>
      </p:sp>
      <p:sp>
        <p:nvSpPr>
          <p:cNvPr id="6" name="Text 4"/>
          <p:cNvSpPr/>
          <p:nvPr/>
        </p:nvSpPr>
        <p:spPr>
          <a:xfrm>
            <a:off x="822960" y="4617720"/>
            <a:ext cx="5212080" cy="822960"/>
          </a:xfrm>
          <a:prstGeom prst="rect">
            <a:avLst/>
          </a:prstGeom>
          <a:noFill/>
          <a:ln/>
        </p:spPr>
        <p:txBody>
          <a:bodyPr wrap="square" lIns="0" tIns="0" rIns="0" bIns="0" rtlCol="0" anchor="ctr"/>
          <a:lstStyle/>
          <a:p>
            <a:pPr marL="0" indent="0">
              <a:buNone/>
            </a:pPr>
            <a:r>
              <a:rPr lang="en-US" sz="1500" dirty="0">
                <a:solidFill>
                  <a:srgbClr val="B7BDC0"/>
                </a:solidFill>
                <a:latin typeface="Calibri" pitchFamily="34" charset="0"/>
                <a:ea typeface="Calibri" pitchFamily="34" charset="-122"/>
                <a:cs typeface="Calibri" pitchFamily="34" charset="-120"/>
              </a:rPr>
              <a:t>A community travel app built with Flutter — real places from real travellers, turned into trips by AI.</a:t>
            </a:r>
            <a:endParaRPr lang="en-US" sz="1500" dirty="0"/>
          </a:p>
        </p:txBody>
      </p:sp>
      <p:sp>
        <p:nvSpPr>
          <p:cNvPr id="7" name="Text 5"/>
          <p:cNvSpPr/>
          <p:nvPr/>
        </p:nvSpPr>
        <p:spPr>
          <a:xfrm>
            <a:off x="822960" y="5989320"/>
            <a:ext cx="4572000" cy="365760"/>
          </a:xfrm>
          <a:prstGeom prst="rect">
            <a:avLst/>
          </a:prstGeom>
          <a:noFill/>
          <a:ln/>
        </p:spPr>
        <p:txBody>
          <a:bodyPr wrap="square" lIns="0" tIns="0" rIns="0" bIns="0" rtlCol="0" anchor="ctr"/>
          <a:lstStyle/>
          <a:p>
            <a:pPr marL="0" indent="0">
              <a:buNone/>
            </a:pPr>
            <a:r>
              <a:rPr lang="en-US" sz="1200" dirty="0">
                <a:solidFill>
                  <a:srgbClr val="9AA2A6"/>
                </a:solidFill>
                <a:latin typeface="Calibri" pitchFamily="34" charset="0"/>
                <a:ea typeface="Calibri" pitchFamily="34" charset="-122"/>
                <a:cs typeface="Calibri" pitchFamily="34" charset="-120"/>
              </a:rPr>
              <a:t>Ramez Milad   ·   June 2026</a:t>
            </a:r>
          </a:p>
          <a:p>
            <a:pPr marL="0" indent="0">
              <a:buNone/>
            </a:pPr>
            <a:r>
              <a:rPr lang="en-US" sz="1200" dirty="0">
                <a:solidFill>
                  <a:srgbClr val="9AA2A6"/>
                </a:solidFill>
                <a:latin typeface="Calibri" pitchFamily="34" charset="0"/>
                <a:cs typeface="Calibri" pitchFamily="34" charset="-120"/>
              </a:rPr>
              <a:t>Marwan </a:t>
            </a:r>
            <a:r>
              <a:rPr lang="en-US" sz="1200" dirty="0" err="1">
                <a:solidFill>
                  <a:srgbClr val="9AA2A6"/>
                </a:solidFill>
                <a:latin typeface="Calibri" pitchFamily="34" charset="0"/>
                <a:cs typeface="Calibri" pitchFamily="34" charset="-120"/>
              </a:rPr>
              <a:t>Moamen</a:t>
            </a:r>
            <a:r>
              <a:rPr lang="en-US" sz="1200" dirty="0">
                <a:solidFill>
                  <a:srgbClr val="9AA2A6"/>
                </a:solidFill>
                <a:latin typeface="Calibri" pitchFamily="34" charset="0"/>
                <a:cs typeface="Calibri" pitchFamily="34" charset="-120"/>
              </a:rPr>
              <a:t> </a:t>
            </a:r>
            <a:endParaRPr lang="en-US" sz="1200" dirty="0"/>
          </a:p>
        </p:txBody>
      </p:sp>
      <p:sp>
        <p:nvSpPr>
          <p:cNvPr id="8" name="Shape 6"/>
          <p:cNvSpPr/>
          <p:nvPr/>
        </p:nvSpPr>
        <p:spPr>
          <a:xfrm rot="-360000">
            <a:off x="6739128" y="1618488"/>
            <a:ext cx="1963186" cy="4078224"/>
          </a:xfrm>
          <a:prstGeom prst="roundRect">
            <a:avLst>
              <a:gd name="adj" fmla="val 5589"/>
            </a:avLst>
          </a:prstGeom>
          <a:solidFill>
            <a:srgbClr val="212729"/>
          </a:solidFill>
          <a:ln w="9525">
            <a:solidFill>
              <a:srgbClr val="3A4144"/>
            </a:solidFill>
            <a:prstDash val="solid"/>
          </a:ln>
          <a:effectLst>
            <a:outerShdw blurRad="152400" dist="63500" dir="5400000" algn="bl" rotWithShape="0">
              <a:srgbClr val="000000">
                <a:alpha val="28000"/>
              </a:srgbClr>
            </a:outerShdw>
          </a:effectLst>
        </p:spPr>
      </p:sp>
      <p:pic>
        <p:nvPicPr>
          <p:cNvPr id="9" name="Image 0" descr="/tmp/spotwise_deck/04_map.png"/>
          <p:cNvPicPr>
            <a:picLocks noChangeAspect="1"/>
          </p:cNvPicPr>
          <p:nvPr/>
        </p:nvPicPr>
        <p:blipFill>
          <a:blip r:embed="rId3"/>
          <a:stretch>
            <a:fillRect/>
          </a:stretch>
        </p:blipFill>
        <p:spPr>
          <a:xfrm rot="-360000">
            <a:off x="6812280" y="1691640"/>
            <a:ext cx="1816882" cy="3931920"/>
          </a:xfrm>
          <a:prstGeom prst="rect">
            <a:avLst/>
          </a:prstGeom>
        </p:spPr>
      </p:pic>
      <p:sp>
        <p:nvSpPr>
          <p:cNvPr id="10" name="Shape 7"/>
          <p:cNvSpPr/>
          <p:nvPr/>
        </p:nvSpPr>
        <p:spPr>
          <a:xfrm rot="360000">
            <a:off x="9939528" y="1618488"/>
            <a:ext cx="1963186" cy="4078224"/>
          </a:xfrm>
          <a:prstGeom prst="roundRect">
            <a:avLst>
              <a:gd name="adj" fmla="val 5589"/>
            </a:avLst>
          </a:prstGeom>
          <a:solidFill>
            <a:srgbClr val="212729"/>
          </a:solidFill>
          <a:ln w="9525">
            <a:solidFill>
              <a:srgbClr val="3A4144"/>
            </a:solidFill>
            <a:prstDash val="solid"/>
          </a:ln>
          <a:effectLst>
            <a:outerShdw blurRad="152400" dist="63500" dir="5400000" algn="bl" rotWithShape="0">
              <a:srgbClr val="000000">
                <a:alpha val="28000"/>
              </a:srgbClr>
            </a:outerShdw>
          </a:effectLst>
        </p:spPr>
      </p:sp>
      <p:pic>
        <p:nvPicPr>
          <p:cNvPr id="11" name="Image 1" descr="/tmp/spotwise_deck/07_trip_details.png"/>
          <p:cNvPicPr>
            <a:picLocks noChangeAspect="1"/>
          </p:cNvPicPr>
          <p:nvPr/>
        </p:nvPicPr>
        <p:blipFill>
          <a:blip r:embed="rId4"/>
          <a:stretch>
            <a:fillRect/>
          </a:stretch>
        </p:blipFill>
        <p:spPr>
          <a:xfrm rot="360000">
            <a:off x="10012680" y="1691640"/>
            <a:ext cx="1816882" cy="3931920"/>
          </a:xfrm>
          <a:prstGeom prst="rect">
            <a:avLst/>
          </a:prstGeom>
        </p:spPr>
      </p:pic>
      <p:sp>
        <p:nvSpPr>
          <p:cNvPr id="12" name="Shape 8"/>
          <p:cNvSpPr/>
          <p:nvPr/>
        </p:nvSpPr>
        <p:spPr>
          <a:xfrm>
            <a:off x="8156448" y="978408"/>
            <a:ext cx="2280085" cy="4764024"/>
          </a:xfrm>
          <a:prstGeom prst="roundRect">
            <a:avLst>
              <a:gd name="adj" fmla="val 4812"/>
            </a:avLst>
          </a:prstGeom>
          <a:solidFill>
            <a:srgbClr val="212729"/>
          </a:solidFill>
          <a:ln w="9525">
            <a:solidFill>
              <a:srgbClr val="3A4144"/>
            </a:solidFill>
            <a:prstDash val="solid"/>
          </a:ln>
          <a:effectLst>
            <a:outerShdw blurRad="152400" dist="63500" dir="5400000" algn="bl" rotWithShape="0">
              <a:srgbClr val="000000">
                <a:alpha val="28000"/>
              </a:srgbClr>
            </a:outerShdw>
          </a:effectLst>
        </p:spPr>
      </p:sp>
      <p:pic>
        <p:nvPicPr>
          <p:cNvPr id="13" name="Image 2" descr="/tmp/spotwise_deck/03_home.png"/>
          <p:cNvPicPr>
            <a:picLocks noChangeAspect="1"/>
          </p:cNvPicPr>
          <p:nvPr/>
        </p:nvPicPr>
        <p:blipFill>
          <a:blip r:embed="rId5"/>
          <a:stretch>
            <a:fillRect/>
          </a:stretch>
        </p:blipFill>
        <p:spPr>
          <a:xfrm>
            <a:off x="8229600" y="1051560"/>
            <a:ext cx="2133781" cy="4617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3"/>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640080"/>
          </a:xfrm>
          <a:prstGeom prst="rect">
            <a:avLst/>
          </a:prstGeom>
          <a:noFill/>
          <a:ln/>
        </p:spPr>
        <p:txBody>
          <a:bodyPr wrap="square" lIns="0" tIns="0" rIns="0" bIns="0" rtlCol="0" anchor="ctr"/>
          <a:lstStyle/>
          <a:p>
            <a:pPr marL="0" indent="0">
              <a:buNone/>
            </a:pPr>
            <a:r>
              <a:rPr lang="en-US" sz="3400" b="1" dirty="0">
                <a:solidFill>
                  <a:srgbClr val="17191A"/>
                </a:solidFill>
                <a:latin typeface="Trebuchet MS" pitchFamily="34" charset="0"/>
                <a:ea typeface="Trebuchet MS" pitchFamily="34" charset="-122"/>
                <a:cs typeface="Trebuchet MS" pitchFamily="34" charset="-120"/>
              </a:rPr>
              <a:t>What is SpotWise?</a:t>
            </a:r>
            <a:endParaRPr lang="en-US" sz="3400" dirty="0"/>
          </a:p>
        </p:txBody>
      </p:sp>
      <p:sp>
        <p:nvSpPr>
          <p:cNvPr id="3" name="Text 1"/>
          <p:cNvSpPr/>
          <p:nvPr/>
        </p:nvSpPr>
        <p:spPr>
          <a:xfrm>
            <a:off x="822960" y="1371600"/>
            <a:ext cx="6583680" cy="685800"/>
          </a:xfrm>
          <a:prstGeom prst="rect">
            <a:avLst/>
          </a:prstGeom>
          <a:noFill/>
          <a:ln/>
        </p:spPr>
        <p:txBody>
          <a:bodyPr wrap="square" lIns="0" tIns="0" rIns="0" bIns="0" rtlCol="0" anchor="ctr"/>
          <a:lstStyle/>
          <a:p>
            <a:pPr marL="0" indent="0">
              <a:buNone/>
            </a:pPr>
            <a:r>
              <a:rPr lang="en-US" sz="1550" dirty="0">
                <a:solidFill>
                  <a:srgbClr val="667075"/>
                </a:solidFill>
                <a:latin typeface="Calibri" pitchFamily="34" charset="0"/>
                <a:ea typeface="Calibri" pitchFamily="34" charset="-122"/>
                <a:cs typeface="Calibri" pitchFamily="34" charset="-120"/>
              </a:rPr>
              <a:t>A travel app where people share their favourite places — and AI turns them into real trips.</a:t>
            </a:r>
            <a:endParaRPr lang="en-US" sz="1550" dirty="0"/>
          </a:p>
        </p:txBody>
      </p:sp>
      <p:sp>
        <p:nvSpPr>
          <p:cNvPr id="4" name="Shape 2"/>
          <p:cNvSpPr/>
          <p:nvPr/>
        </p:nvSpPr>
        <p:spPr>
          <a:xfrm>
            <a:off x="822960" y="2331720"/>
            <a:ext cx="6309360" cy="914400"/>
          </a:xfrm>
          <a:prstGeom prst="roundRect">
            <a:avLst>
              <a:gd name="adj" fmla="val 10000"/>
            </a:avLst>
          </a:prstGeom>
          <a:solidFill>
            <a:srgbClr val="FFFFFF"/>
          </a:solidFill>
          <a:ln/>
          <a:effectLst>
            <a:outerShdw blurRad="152400" dist="63500" dir="5400000" algn="bl" rotWithShape="0">
              <a:srgbClr val="000000">
                <a:alpha val="28000"/>
              </a:srgbClr>
            </a:outerShdw>
          </a:effectLst>
        </p:spPr>
      </p:sp>
      <p:sp>
        <p:nvSpPr>
          <p:cNvPr id="5" name="Shape 3"/>
          <p:cNvSpPr/>
          <p:nvPr/>
        </p:nvSpPr>
        <p:spPr>
          <a:xfrm>
            <a:off x="1143000" y="2596896"/>
            <a:ext cx="384048" cy="384048"/>
          </a:xfrm>
          <a:prstGeom prst="ellipse">
            <a:avLst/>
          </a:prstGeom>
          <a:solidFill>
            <a:srgbClr val="0F766E"/>
          </a:solidFill>
          <a:ln/>
        </p:spPr>
      </p:sp>
      <p:sp>
        <p:nvSpPr>
          <p:cNvPr id="6" name="Text 4"/>
          <p:cNvSpPr/>
          <p:nvPr/>
        </p:nvSpPr>
        <p:spPr>
          <a:xfrm>
            <a:off x="1143000" y="25968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1</a:t>
            </a:r>
            <a:endParaRPr lang="en-US" sz="1500" dirty="0"/>
          </a:p>
        </p:txBody>
      </p:sp>
      <p:sp>
        <p:nvSpPr>
          <p:cNvPr id="7" name="Text 5"/>
          <p:cNvSpPr/>
          <p:nvPr/>
        </p:nvSpPr>
        <p:spPr>
          <a:xfrm>
            <a:off x="1783080" y="2478024"/>
            <a:ext cx="5120640" cy="365760"/>
          </a:xfrm>
          <a:prstGeom prst="rect">
            <a:avLst/>
          </a:prstGeom>
          <a:noFill/>
          <a:ln/>
        </p:spPr>
        <p:txBody>
          <a:bodyPr wrap="square" lIns="0" tIns="0" rIns="0" bIns="0" rtlCol="0" anchor="ctr"/>
          <a:lstStyle/>
          <a:p>
            <a:pPr marL="0" indent="0">
              <a:buNone/>
            </a:pPr>
            <a:r>
              <a:rPr lang="en-US" sz="1550" b="1" dirty="0">
                <a:solidFill>
                  <a:srgbClr val="17191A"/>
                </a:solidFill>
                <a:latin typeface="Trebuchet MS" pitchFamily="34" charset="0"/>
                <a:ea typeface="Trebuchet MS" pitchFamily="34" charset="-122"/>
                <a:cs typeface="Trebuchet MS" pitchFamily="34" charset="-120"/>
              </a:rPr>
              <a:t>Discover</a:t>
            </a:r>
            <a:endParaRPr lang="en-US" sz="1550" dirty="0"/>
          </a:p>
        </p:txBody>
      </p:sp>
      <p:sp>
        <p:nvSpPr>
          <p:cNvPr id="8" name="Text 6"/>
          <p:cNvSpPr/>
          <p:nvPr/>
        </p:nvSpPr>
        <p:spPr>
          <a:xfrm>
            <a:off x="1783080" y="2834640"/>
            <a:ext cx="5120640" cy="32004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Browse real places, city by city.</a:t>
            </a:r>
            <a:endParaRPr lang="en-US" sz="1250" dirty="0"/>
          </a:p>
        </p:txBody>
      </p:sp>
      <p:sp>
        <p:nvSpPr>
          <p:cNvPr id="9" name="Shape 7"/>
          <p:cNvSpPr/>
          <p:nvPr/>
        </p:nvSpPr>
        <p:spPr>
          <a:xfrm>
            <a:off x="822960" y="3474720"/>
            <a:ext cx="6309360" cy="914400"/>
          </a:xfrm>
          <a:prstGeom prst="roundRect">
            <a:avLst>
              <a:gd name="adj" fmla="val 10000"/>
            </a:avLst>
          </a:prstGeom>
          <a:solidFill>
            <a:srgbClr val="FFFFFF"/>
          </a:solidFill>
          <a:ln/>
          <a:effectLst>
            <a:outerShdw blurRad="152400" dist="63500" dir="5400000" algn="bl" rotWithShape="0">
              <a:srgbClr val="000000">
                <a:alpha val="28000"/>
              </a:srgbClr>
            </a:outerShdw>
          </a:effectLst>
        </p:spPr>
      </p:sp>
      <p:sp>
        <p:nvSpPr>
          <p:cNvPr id="10" name="Shape 8"/>
          <p:cNvSpPr/>
          <p:nvPr/>
        </p:nvSpPr>
        <p:spPr>
          <a:xfrm>
            <a:off x="1143000" y="3739896"/>
            <a:ext cx="384048" cy="384048"/>
          </a:xfrm>
          <a:prstGeom prst="ellipse">
            <a:avLst/>
          </a:prstGeom>
          <a:solidFill>
            <a:srgbClr val="0F766E"/>
          </a:solidFill>
          <a:ln/>
        </p:spPr>
      </p:sp>
      <p:sp>
        <p:nvSpPr>
          <p:cNvPr id="11" name="Text 9"/>
          <p:cNvSpPr/>
          <p:nvPr/>
        </p:nvSpPr>
        <p:spPr>
          <a:xfrm>
            <a:off x="1143000" y="37398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2</a:t>
            </a:r>
            <a:endParaRPr lang="en-US" sz="1500" dirty="0"/>
          </a:p>
        </p:txBody>
      </p:sp>
      <p:sp>
        <p:nvSpPr>
          <p:cNvPr id="12" name="Text 10"/>
          <p:cNvSpPr/>
          <p:nvPr/>
        </p:nvSpPr>
        <p:spPr>
          <a:xfrm>
            <a:off x="1783080" y="3621024"/>
            <a:ext cx="5120640" cy="365760"/>
          </a:xfrm>
          <a:prstGeom prst="rect">
            <a:avLst/>
          </a:prstGeom>
          <a:noFill/>
          <a:ln/>
        </p:spPr>
        <p:txBody>
          <a:bodyPr wrap="square" lIns="0" tIns="0" rIns="0" bIns="0" rtlCol="0" anchor="ctr"/>
          <a:lstStyle/>
          <a:p>
            <a:pPr marL="0" indent="0">
              <a:buNone/>
            </a:pPr>
            <a:r>
              <a:rPr lang="en-US" sz="1550" b="1" dirty="0">
                <a:solidFill>
                  <a:srgbClr val="17191A"/>
                </a:solidFill>
                <a:latin typeface="Trebuchet MS" pitchFamily="34" charset="0"/>
                <a:ea typeface="Trebuchet MS" pitchFamily="34" charset="-122"/>
                <a:cs typeface="Trebuchet MS" pitchFamily="34" charset="-120"/>
              </a:rPr>
              <a:t>Share</a:t>
            </a:r>
            <a:endParaRPr lang="en-US" sz="1550" dirty="0"/>
          </a:p>
        </p:txBody>
      </p:sp>
      <p:sp>
        <p:nvSpPr>
          <p:cNvPr id="13" name="Text 11"/>
          <p:cNvSpPr/>
          <p:nvPr/>
        </p:nvSpPr>
        <p:spPr>
          <a:xfrm>
            <a:off x="1783080" y="3977640"/>
            <a:ext cx="5120640" cy="32004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Add your own spots and reviews.</a:t>
            </a:r>
            <a:endParaRPr lang="en-US" sz="1250" dirty="0"/>
          </a:p>
        </p:txBody>
      </p:sp>
      <p:sp>
        <p:nvSpPr>
          <p:cNvPr id="14" name="Shape 12"/>
          <p:cNvSpPr/>
          <p:nvPr/>
        </p:nvSpPr>
        <p:spPr>
          <a:xfrm>
            <a:off x="822960" y="4617720"/>
            <a:ext cx="6309360" cy="914400"/>
          </a:xfrm>
          <a:prstGeom prst="roundRect">
            <a:avLst>
              <a:gd name="adj" fmla="val 10000"/>
            </a:avLst>
          </a:prstGeom>
          <a:solidFill>
            <a:srgbClr val="FFFFFF"/>
          </a:solidFill>
          <a:ln/>
          <a:effectLst>
            <a:outerShdw blurRad="152400" dist="63500" dir="5400000" algn="bl" rotWithShape="0">
              <a:srgbClr val="000000">
                <a:alpha val="28000"/>
              </a:srgbClr>
            </a:outerShdw>
          </a:effectLst>
        </p:spPr>
      </p:sp>
      <p:sp>
        <p:nvSpPr>
          <p:cNvPr id="15" name="Shape 13"/>
          <p:cNvSpPr/>
          <p:nvPr/>
        </p:nvSpPr>
        <p:spPr>
          <a:xfrm>
            <a:off x="1143000" y="4882896"/>
            <a:ext cx="384048" cy="384048"/>
          </a:xfrm>
          <a:prstGeom prst="ellipse">
            <a:avLst/>
          </a:prstGeom>
          <a:solidFill>
            <a:srgbClr val="0F766E"/>
          </a:solidFill>
          <a:ln/>
        </p:spPr>
      </p:sp>
      <p:sp>
        <p:nvSpPr>
          <p:cNvPr id="16" name="Text 14"/>
          <p:cNvSpPr/>
          <p:nvPr/>
        </p:nvSpPr>
        <p:spPr>
          <a:xfrm>
            <a:off x="1143000" y="48828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3</a:t>
            </a:r>
            <a:endParaRPr lang="en-US" sz="1500" dirty="0"/>
          </a:p>
        </p:txBody>
      </p:sp>
      <p:sp>
        <p:nvSpPr>
          <p:cNvPr id="17" name="Text 15"/>
          <p:cNvSpPr/>
          <p:nvPr/>
        </p:nvSpPr>
        <p:spPr>
          <a:xfrm>
            <a:off x="1783080" y="4764024"/>
            <a:ext cx="5120640" cy="365760"/>
          </a:xfrm>
          <a:prstGeom prst="rect">
            <a:avLst/>
          </a:prstGeom>
          <a:noFill/>
          <a:ln/>
        </p:spPr>
        <p:txBody>
          <a:bodyPr wrap="square" lIns="0" tIns="0" rIns="0" bIns="0" rtlCol="0" anchor="ctr"/>
          <a:lstStyle/>
          <a:p>
            <a:pPr marL="0" indent="0">
              <a:buNone/>
            </a:pPr>
            <a:r>
              <a:rPr lang="en-US" sz="1550" b="1" dirty="0">
                <a:solidFill>
                  <a:srgbClr val="17191A"/>
                </a:solidFill>
                <a:latin typeface="Trebuchet MS" pitchFamily="34" charset="0"/>
                <a:ea typeface="Trebuchet MS" pitchFamily="34" charset="-122"/>
                <a:cs typeface="Trebuchet MS" pitchFamily="34" charset="-120"/>
              </a:rPr>
              <a:t>Plan with AI</a:t>
            </a:r>
            <a:endParaRPr lang="en-US" sz="1550" dirty="0"/>
          </a:p>
        </p:txBody>
      </p:sp>
      <p:sp>
        <p:nvSpPr>
          <p:cNvPr id="18" name="Text 16"/>
          <p:cNvSpPr/>
          <p:nvPr/>
        </p:nvSpPr>
        <p:spPr>
          <a:xfrm>
            <a:off x="1783080" y="5120640"/>
            <a:ext cx="5120640" cy="32004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Get a ready day-by-day trip.</a:t>
            </a:r>
            <a:endParaRPr lang="en-US" sz="1250" dirty="0"/>
          </a:p>
        </p:txBody>
      </p:sp>
      <p:sp>
        <p:nvSpPr>
          <p:cNvPr id="19" name="Shape 17"/>
          <p:cNvSpPr/>
          <p:nvPr/>
        </p:nvSpPr>
        <p:spPr>
          <a:xfrm>
            <a:off x="8933688" y="841248"/>
            <a:ext cx="2512477" cy="5266944"/>
          </a:xfrm>
          <a:prstGeom prst="roundRect">
            <a:avLst>
              <a:gd name="adj" fmla="val 4367"/>
            </a:avLst>
          </a:prstGeom>
          <a:solidFill>
            <a:srgbClr val="17191A"/>
          </a:solidFill>
          <a:ln w="12700">
            <a:solidFill>
              <a:srgbClr val="17191A"/>
            </a:solidFill>
            <a:prstDash val="solid"/>
          </a:ln>
          <a:effectLst>
            <a:outerShdw blurRad="152400" dist="63500" dir="5400000" algn="bl" rotWithShape="0">
              <a:srgbClr val="000000">
                <a:alpha val="28000"/>
              </a:srgbClr>
            </a:outerShdw>
          </a:effectLst>
        </p:spPr>
      </p:sp>
      <p:pic>
        <p:nvPicPr>
          <p:cNvPr id="20" name="Image 0" descr="/tmp/spotwise_deck/01_onboarding.png"/>
          <p:cNvPicPr>
            <a:picLocks noChangeAspect="1"/>
          </p:cNvPicPr>
          <p:nvPr/>
        </p:nvPicPr>
        <p:blipFill>
          <a:blip r:embed="rId3"/>
          <a:stretch>
            <a:fillRect/>
          </a:stretch>
        </p:blipFill>
        <p:spPr>
          <a:xfrm>
            <a:off x="9006840" y="914400"/>
            <a:ext cx="2366173" cy="5120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3"/>
        </a:solidFill>
        <a:effectLst/>
      </p:bgPr>
    </p:bg>
    <p:spTree>
      <p:nvGrpSpPr>
        <p:cNvPr id="1" name=""/>
        <p:cNvGrpSpPr/>
        <p:nvPr/>
      </p:nvGrpSpPr>
      <p:grpSpPr>
        <a:xfrm>
          <a:off x="0" y="0"/>
          <a:ext cx="0" cy="0"/>
          <a:chOff x="0" y="0"/>
          <a:chExt cx="0" cy="0"/>
        </a:xfrm>
      </p:grpSpPr>
      <p:sp>
        <p:nvSpPr>
          <p:cNvPr id="2" name="Text 0"/>
          <p:cNvSpPr/>
          <p:nvPr/>
        </p:nvSpPr>
        <p:spPr>
          <a:xfrm>
            <a:off x="822960" y="502920"/>
            <a:ext cx="7315200" cy="594360"/>
          </a:xfrm>
          <a:prstGeom prst="rect">
            <a:avLst/>
          </a:prstGeom>
          <a:noFill/>
          <a:ln/>
        </p:spPr>
        <p:txBody>
          <a:bodyPr wrap="square" lIns="0" tIns="0" rIns="0" bIns="0" rtlCol="0" anchor="ctr"/>
          <a:lstStyle/>
          <a:p>
            <a:pPr marL="0" indent="0">
              <a:buNone/>
            </a:pPr>
            <a:r>
              <a:rPr lang="en-US" sz="3400" b="1" dirty="0">
                <a:solidFill>
                  <a:srgbClr val="17191A"/>
                </a:solidFill>
                <a:latin typeface="Trebuchet MS" pitchFamily="34" charset="0"/>
                <a:ea typeface="Trebuchet MS" pitchFamily="34" charset="-122"/>
                <a:cs typeface="Trebuchet MS" pitchFamily="34" charset="-120"/>
              </a:rPr>
              <a:t>How it's built</a:t>
            </a:r>
            <a:endParaRPr lang="en-US" sz="3400" dirty="0"/>
          </a:p>
        </p:txBody>
      </p:sp>
      <p:sp>
        <p:nvSpPr>
          <p:cNvPr id="3" name="Text 1"/>
          <p:cNvSpPr/>
          <p:nvPr/>
        </p:nvSpPr>
        <p:spPr>
          <a:xfrm>
            <a:off x="822960" y="1280160"/>
            <a:ext cx="6400800" cy="411480"/>
          </a:xfrm>
          <a:prstGeom prst="rect">
            <a:avLst/>
          </a:prstGeom>
          <a:noFill/>
          <a:ln/>
        </p:spPr>
        <p:txBody>
          <a:bodyPr wrap="square" lIns="0" tIns="0" rIns="0" bIns="0" rtlCol="0" anchor="ctr"/>
          <a:lstStyle/>
          <a:p>
            <a:pPr marL="0" indent="0">
              <a:buNone/>
            </a:pPr>
            <a:r>
              <a:rPr lang="en-US" sz="1500" dirty="0">
                <a:solidFill>
                  <a:srgbClr val="667075"/>
                </a:solidFill>
                <a:latin typeface="Calibri" pitchFamily="34" charset="0"/>
                <a:ea typeface="Calibri" pitchFamily="34" charset="-122"/>
                <a:cs typeface="Calibri" pitchFamily="34" charset="-120"/>
              </a:rPr>
              <a:t>Free tools. One codebase. Three keys to set up.</a:t>
            </a:r>
            <a:endParaRPr lang="en-US" sz="1500" dirty="0"/>
          </a:p>
        </p:txBody>
      </p:sp>
      <p:sp>
        <p:nvSpPr>
          <p:cNvPr id="4" name="Shape 2"/>
          <p:cNvSpPr/>
          <p:nvPr/>
        </p:nvSpPr>
        <p:spPr>
          <a:xfrm>
            <a:off x="822960" y="1920240"/>
            <a:ext cx="3291840" cy="1280160"/>
          </a:xfrm>
          <a:prstGeom prst="roundRect">
            <a:avLst>
              <a:gd name="adj" fmla="val 7143"/>
            </a:avLst>
          </a:prstGeom>
          <a:solidFill>
            <a:srgbClr val="FFFFFF"/>
          </a:solidFill>
          <a:ln/>
          <a:effectLst>
            <a:outerShdw blurRad="152400" dist="63500" dir="5400000" algn="bl" rotWithShape="0">
              <a:srgbClr val="000000">
                <a:alpha val="28000"/>
              </a:srgbClr>
            </a:outerShdw>
          </a:effectLst>
        </p:spPr>
      </p:sp>
      <p:sp>
        <p:nvSpPr>
          <p:cNvPr id="5" name="Shape 3"/>
          <p:cNvSpPr/>
          <p:nvPr/>
        </p:nvSpPr>
        <p:spPr>
          <a:xfrm>
            <a:off x="1097280" y="2231136"/>
            <a:ext cx="128016" cy="128016"/>
          </a:xfrm>
          <a:prstGeom prst="ellipse">
            <a:avLst/>
          </a:prstGeom>
          <a:solidFill>
            <a:srgbClr val="0F766E"/>
          </a:solidFill>
          <a:ln/>
        </p:spPr>
      </p:sp>
      <p:sp>
        <p:nvSpPr>
          <p:cNvPr id="6" name="Text 4"/>
          <p:cNvSpPr/>
          <p:nvPr/>
        </p:nvSpPr>
        <p:spPr>
          <a:xfrm>
            <a:off x="1335024" y="2103120"/>
            <a:ext cx="2651760" cy="365760"/>
          </a:xfrm>
          <a:prstGeom prst="rect">
            <a:avLst/>
          </a:prstGeom>
          <a:noFill/>
          <a:ln/>
        </p:spPr>
        <p:txBody>
          <a:bodyPr wrap="square" lIns="0" tIns="0" rIns="0" bIns="0" rtlCol="0" anchor="ctr"/>
          <a:lstStyle/>
          <a:p>
            <a:pPr marL="0" indent="0">
              <a:buNone/>
            </a:pPr>
            <a:r>
              <a:rPr lang="en-US" sz="1600" b="1" dirty="0">
                <a:solidFill>
                  <a:srgbClr val="17191A"/>
                </a:solidFill>
                <a:latin typeface="Trebuchet MS" pitchFamily="34" charset="0"/>
                <a:ea typeface="Trebuchet MS" pitchFamily="34" charset="-122"/>
                <a:cs typeface="Trebuchet MS" pitchFamily="34" charset="-120"/>
              </a:rPr>
              <a:t>Flutter</a:t>
            </a:r>
            <a:endParaRPr lang="en-US" sz="1600" dirty="0"/>
          </a:p>
        </p:txBody>
      </p:sp>
      <p:sp>
        <p:nvSpPr>
          <p:cNvPr id="7" name="Text 5"/>
          <p:cNvSpPr/>
          <p:nvPr/>
        </p:nvSpPr>
        <p:spPr>
          <a:xfrm>
            <a:off x="1335024" y="2487168"/>
            <a:ext cx="2606040" cy="59436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One app for Android, iOS and web.</a:t>
            </a:r>
            <a:endParaRPr lang="en-US" sz="1250" dirty="0"/>
          </a:p>
        </p:txBody>
      </p:sp>
      <p:sp>
        <p:nvSpPr>
          <p:cNvPr id="8" name="Shape 6"/>
          <p:cNvSpPr/>
          <p:nvPr/>
        </p:nvSpPr>
        <p:spPr>
          <a:xfrm>
            <a:off x="4343400" y="1920240"/>
            <a:ext cx="3291840" cy="1280160"/>
          </a:xfrm>
          <a:prstGeom prst="roundRect">
            <a:avLst>
              <a:gd name="adj" fmla="val 7143"/>
            </a:avLst>
          </a:prstGeom>
          <a:solidFill>
            <a:srgbClr val="FFFFFF"/>
          </a:solidFill>
          <a:ln/>
          <a:effectLst>
            <a:outerShdw blurRad="152400" dist="63500" dir="5400000" algn="bl" rotWithShape="0">
              <a:srgbClr val="000000">
                <a:alpha val="28000"/>
              </a:srgbClr>
            </a:outerShdw>
          </a:effectLst>
        </p:spPr>
      </p:sp>
      <p:sp>
        <p:nvSpPr>
          <p:cNvPr id="9" name="Shape 7"/>
          <p:cNvSpPr/>
          <p:nvPr/>
        </p:nvSpPr>
        <p:spPr>
          <a:xfrm>
            <a:off x="4617720" y="2231136"/>
            <a:ext cx="128016" cy="128016"/>
          </a:xfrm>
          <a:prstGeom prst="ellipse">
            <a:avLst/>
          </a:prstGeom>
          <a:solidFill>
            <a:srgbClr val="0F766E"/>
          </a:solidFill>
          <a:ln/>
        </p:spPr>
      </p:sp>
      <p:sp>
        <p:nvSpPr>
          <p:cNvPr id="10" name="Text 8"/>
          <p:cNvSpPr/>
          <p:nvPr/>
        </p:nvSpPr>
        <p:spPr>
          <a:xfrm>
            <a:off x="4855464" y="2103120"/>
            <a:ext cx="2651760" cy="365760"/>
          </a:xfrm>
          <a:prstGeom prst="rect">
            <a:avLst/>
          </a:prstGeom>
          <a:noFill/>
          <a:ln/>
        </p:spPr>
        <p:txBody>
          <a:bodyPr wrap="square" lIns="0" tIns="0" rIns="0" bIns="0" rtlCol="0" anchor="ctr"/>
          <a:lstStyle/>
          <a:p>
            <a:pPr marL="0" indent="0">
              <a:buNone/>
            </a:pPr>
            <a:r>
              <a:rPr lang="en-US" sz="1600" b="1" dirty="0">
                <a:solidFill>
                  <a:srgbClr val="17191A"/>
                </a:solidFill>
                <a:latin typeface="Trebuchet MS" pitchFamily="34" charset="0"/>
                <a:ea typeface="Trebuchet MS" pitchFamily="34" charset="-122"/>
                <a:cs typeface="Trebuchet MS" pitchFamily="34" charset="-120"/>
              </a:rPr>
              <a:t>Firebase</a:t>
            </a:r>
            <a:endParaRPr lang="en-US" sz="1600" dirty="0"/>
          </a:p>
        </p:txBody>
      </p:sp>
      <p:sp>
        <p:nvSpPr>
          <p:cNvPr id="11" name="Text 9"/>
          <p:cNvSpPr/>
          <p:nvPr/>
        </p:nvSpPr>
        <p:spPr>
          <a:xfrm>
            <a:off x="4855464" y="2487168"/>
            <a:ext cx="2606040" cy="59436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Login, live database and photos.</a:t>
            </a:r>
            <a:endParaRPr lang="en-US" sz="1250" dirty="0"/>
          </a:p>
        </p:txBody>
      </p:sp>
      <p:sp>
        <p:nvSpPr>
          <p:cNvPr id="12" name="Shape 10"/>
          <p:cNvSpPr/>
          <p:nvPr/>
        </p:nvSpPr>
        <p:spPr>
          <a:xfrm>
            <a:off x="822960" y="3429000"/>
            <a:ext cx="3291840" cy="1280160"/>
          </a:xfrm>
          <a:prstGeom prst="roundRect">
            <a:avLst>
              <a:gd name="adj" fmla="val 7143"/>
            </a:avLst>
          </a:prstGeom>
          <a:solidFill>
            <a:srgbClr val="FFFFFF"/>
          </a:solidFill>
          <a:ln/>
          <a:effectLst>
            <a:outerShdw blurRad="152400" dist="63500" dir="5400000" algn="bl" rotWithShape="0">
              <a:srgbClr val="000000">
                <a:alpha val="28000"/>
              </a:srgbClr>
            </a:outerShdw>
          </a:effectLst>
        </p:spPr>
      </p:sp>
      <p:sp>
        <p:nvSpPr>
          <p:cNvPr id="13" name="Shape 11"/>
          <p:cNvSpPr/>
          <p:nvPr/>
        </p:nvSpPr>
        <p:spPr>
          <a:xfrm>
            <a:off x="1097280" y="3739896"/>
            <a:ext cx="128016" cy="128016"/>
          </a:xfrm>
          <a:prstGeom prst="ellipse">
            <a:avLst/>
          </a:prstGeom>
          <a:solidFill>
            <a:srgbClr val="0F766E"/>
          </a:solidFill>
          <a:ln/>
        </p:spPr>
      </p:sp>
      <p:sp>
        <p:nvSpPr>
          <p:cNvPr id="14" name="Text 12"/>
          <p:cNvSpPr/>
          <p:nvPr/>
        </p:nvSpPr>
        <p:spPr>
          <a:xfrm>
            <a:off x="1335024" y="3611880"/>
            <a:ext cx="2651760" cy="365760"/>
          </a:xfrm>
          <a:prstGeom prst="rect">
            <a:avLst/>
          </a:prstGeom>
          <a:noFill/>
          <a:ln/>
        </p:spPr>
        <p:txBody>
          <a:bodyPr wrap="square" lIns="0" tIns="0" rIns="0" bIns="0" rtlCol="0" anchor="ctr"/>
          <a:lstStyle/>
          <a:p>
            <a:pPr marL="0" indent="0">
              <a:buNone/>
            </a:pPr>
            <a:r>
              <a:rPr lang="en-US" sz="1600" b="1" dirty="0">
                <a:solidFill>
                  <a:srgbClr val="17191A"/>
                </a:solidFill>
                <a:latin typeface="Trebuchet MS" pitchFamily="34" charset="0"/>
                <a:ea typeface="Trebuchet MS" pitchFamily="34" charset="-122"/>
                <a:cs typeface="Trebuchet MS" pitchFamily="34" charset="-120"/>
              </a:rPr>
              <a:t>OpenStreetMap</a:t>
            </a:r>
            <a:endParaRPr lang="en-US" sz="1600" dirty="0"/>
          </a:p>
        </p:txBody>
      </p:sp>
      <p:sp>
        <p:nvSpPr>
          <p:cNvPr id="15" name="Text 13"/>
          <p:cNvSpPr/>
          <p:nvPr/>
        </p:nvSpPr>
        <p:spPr>
          <a:xfrm>
            <a:off x="1335024" y="3995928"/>
            <a:ext cx="2606040" cy="59436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Free in-app maps and search.</a:t>
            </a:r>
            <a:endParaRPr lang="en-US" sz="1250" dirty="0"/>
          </a:p>
        </p:txBody>
      </p:sp>
      <p:sp>
        <p:nvSpPr>
          <p:cNvPr id="16" name="Shape 14"/>
          <p:cNvSpPr/>
          <p:nvPr/>
        </p:nvSpPr>
        <p:spPr>
          <a:xfrm>
            <a:off x="4343400" y="3429000"/>
            <a:ext cx="3291840" cy="1280160"/>
          </a:xfrm>
          <a:prstGeom prst="roundRect">
            <a:avLst>
              <a:gd name="adj" fmla="val 7143"/>
            </a:avLst>
          </a:prstGeom>
          <a:solidFill>
            <a:srgbClr val="FFFFFF"/>
          </a:solidFill>
          <a:ln/>
          <a:effectLst>
            <a:outerShdw blurRad="152400" dist="63500" dir="5400000" algn="bl" rotWithShape="0">
              <a:srgbClr val="000000">
                <a:alpha val="28000"/>
              </a:srgbClr>
            </a:outerShdw>
          </a:effectLst>
        </p:spPr>
      </p:sp>
      <p:sp>
        <p:nvSpPr>
          <p:cNvPr id="17" name="Shape 15"/>
          <p:cNvSpPr/>
          <p:nvPr/>
        </p:nvSpPr>
        <p:spPr>
          <a:xfrm>
            <a:off x="4617720" y="3739896"/>
            <a:ext cx="128016" cy="128016"/>
          </a:xfrm>
          <a:prstGeom prst="ellipse">
            <a:avLst/>
          </a:prstGeom>
          <a:solidFill>
            <a:srgbClr val="0F766E"/>
          </a:solidFill>
          <a:ln/>
        </p:spPr>
      </p:sp>
      <p:sp>
        <p:nvSpPr>
          <p:cNvPr id="18" name="Text 16"/>
          <p:cNvSpPr/>
          <p:nvPr/>
        </p:nvSpPr>
        <p:spPr>
          <a:xfrm>
            <a:off x="4855464" y="3611880"/>
            <a:ext cx="2651760" cy="365760"/>
          </a:xfrm>
          <a:prstGeom prst="rect">
            <a:avLst/>
          </a:prstGeom>
          <a:noFill/>
          <a:ln/>
        </p:spPr>
        <p:txBody>
          <a:bodyPr wrap="square" lIns="0" tIns="0" rIns="0" bIns="0" rtlCol="0" anchor="ctr"/>
          <a:lstStyle/>
          <a:p>
            <a:pPr marL="0" indent="0">
              <a:buNone/>
            </a:pPr>
            <a:r>
              <a:rPr lang="en-US" sz="1600" b="1" dirty="0">
                <a:solidFill>
                  <a:srgbClr val="17191A"/>
                </a:solidFill>
                <a:latin typeface="Trebuchet MS" pitchFamily="34" charset="0"/>
                <a:ea typeface="Trebuchet MS" pitchFamily="34" charset="-122"/>
                <a:cs typeface="Trebuchet MS" pitchFamily="34" charset="-120"/>
              </a:rPr>
              <a:t>Google Gemini</a:t>
            </a:r>
            <a:endParaRPr lang="en-US" sz="1600" dirty="0"/>
          </a:p>
        </p:txBody>
      </p:sp>
      <p:sp>
        <p:nvSpPr>
          <p:cNvPr id="19" name="Text 17"/>
          <p:cNvSpPr/>
          <p:nvPr/>
        </p:nvSpPr>
        <p:spPr>
          <a:xfrm>
            <a:off x="4855464" y="3995928"/>
            <a:ext cx="2606040" cy="59436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The AI behind trip planning.</a:t>
            </a:r>
            <a:endParaRPr lang="en-US" sz="1250" dirty="0"/>
          </a:p>
        </p:txBody>
      </p:sp>
      <p:sp>
        <p:nvSpPr>
          <p:cNvPr id="20" name="Shape 18"/>
          <p:cNvSpPr/>
          <p:nvPr/>
        </p:nvSpPr>
        <p:spPr>
          <a:xfrm>
            <a:off x="822960" y="5257800"/>
            <a:ext cx="6812280" cy="868680"/>
          </a:xfrm>
          <a:prstGeom prst="roundRect">
            <a:avLst>
              <a:gd name="adj" fmla="val 10526"/>
            </a:avLst>
          </a:prstGeom>
          <a:solidFill>
            <a:srgbClr val="17191A"/>
          </a:solidFill>
          <a:ln/>
          <a:effectLst>
            <a:outerShdw blurRad="152400" dist="63500" dir="5400000" algn="bl" rotWithShape="0">
              <a:srgbClr val="000000">
                <a:alpha val="28000"/>
              </a:srgbClr>
            </a:outerShdw>
          </a:effectLst>
        </p:spPr>
      </p:sp>
      <p:sp>
        <p:nvSpPr>
          <p:cNvPr id="21" name="Text 19"/>
          <p:cNvSpPr/>
          <p:nvPr/>
        </p:nvSpPr>
        <p:spPr>
          <a:xfrm>
            <a:off x="1097280" y="5413248"/>
            <a:ext cx="6400800" cy="320040"/>
          </a:xfrm>
          <a:prstGeom prst="rect">
            <a:avLst/>
          </a:prstGeom>
          <a:noFill/>
          <a:ln/>
        </p:spPr>
        <p:txBody>
          <a:bodyPr wrap="square" lIns="0" tIns="0" rIns="0" bIns="0" rtlCol="0" anchor="ctr"/>
          <a:lstStyle/>
          <a:p>
            <a:pPr marL="0" indent="0">
              <a:buNone/>
            </a:pPr>
            <a:r>
              <a:rPr lang="en-US" sz="1100" b="1" kern="0" spc="200" dirty="0">
                <a:solidFill>
                  <a:srgbClr val="0F766E"/>
                </a:solidFill>
                <a:latin typeface="Trebuchet MS" pitchFamily="34" charset="0"/>
                <a:ea typeface="Trebuchet MS" pitchFamily="34" charset="-122"/>
                <a:cs typeface="Trebuchet MS" pitchFamily="34" charset="-120"/>
              </a:rPr>
              <a:t>SETUP   </a:t>
            </a:r>
            <a:r>
              <a:rPr lang="en-US" sz="1250" dirty="0">
                <a:solidFill>
                  <a:srgbClr val="FFFFFF"/>
                </a:solidFill>
                <a:latin typeface="Consolas" pitchFamily="34" charset="0"/>
                <a:ea typeface="Consolas" pitchFamily="34" charset="-122"/>
                <a:cs typeface="Consolas" pitchFamily="34" charset="-120"/>
              </a:rPr>
              <a:t>add 3 keys to .env   →   flutter pub get   →   flutter run</a:t>
            </a:r>
            <a:endParaRPr lang="en-US" sz="1100" dirty="0"/>
          </a:p>
        </p:txBody>
      </p:sp>
      <p:sp>
        <p:nvSpPr>
          <p:cNvPr id="22" name="Text 20"/>
          <p:cNvSpPr/>
          <p:nvPr/>
        </p:nvSpPr>
        <p:spPr>
          <a:xfrm>
            <a:off x="1097280" y="5742432"/>
            <a:ext cx="6217920" cy="274320"/>
          </a:xfrm>
          <a:prstGeom prst="rect">
            <a:avLst/>
          </a:prstGeom>
          <a:noFill/>
          <a:ln/>
        </p:spPr>
        <p:txBody>
          <a:bodyPr wrap="square" lIns="0" tIns="0" rIns="0" bIns="0" rtlCol="0" anchor="ctr"/>
          <a:lstStyle/>
          <a:p>
            <a:pPr marL="0" indent="0">
              <a:buNone/>
            </a:pPr>
            <a:r>
              <a:rPr lang="en-US" sz="1100" i="1" dirty="0">
                <a:solidFill>
                  <a:srgbClr val="9AA2A6"/>
                </a:solidFill>
                <a:latin typeface="Calibri" pitchFamily="34" charset="0"/>
                <a:ea typeface="Calibri" pitchFamily="34" charset="-122"/>
                <a:cs typeface="Calibri" pitchFamily="34" charset="-120"/>
              </a:rPr>
              <a:t>No keys? It still runs — on built-in demo data.</a:t>
            </a:r>
            <a:endParaRPr lang="en-US" sz="1100" dirty="0"/>
          </a:p>
        </p:txBody>
      </p:sp>
      <p:sp>
        <p:nvSpPr>
          <p:cNvPr id="23" name="Shape 21"/>
          <p:cNvSpPr/>
          <p:nvPr/>
        </p:nvSpPr>
        <p:spPr>
          <a:xfrm>
            <a:off x="8933688" y="841248"/>
            <a:ext cx="2512477" cy="5266944"/>
          </a:xfrm>
          <a:prstGeom prst="roundRect">
            <a:avLst>
              <a:gd name="adj" fmla="val 4367"/>
            </a:avLst>
          </a:prstGeom>
          <a:solidFill>
            <a:srgbClr val="17191A"/>
          </a:solidFill>
          <a:ln w="12700">
            <a:solidFill>
              <a:srgbClr val="17191A"/>
            </a:solidFill>
            <a:prstDash val="solid"/>
          </a:ln>
          <a:effectLst>
            <a:outerShdw blurRad="152400" dist="63500" dir="5400000" algn="bl" rotWithShape="0">
              <a:srgbClr val="000000">
                <a:alpha val="28000"/>
              </a:srgbClr>
            </a:outerShdw>
          </a:effectLst>
        </p:spPr>
      </p:sp>
      <p:pic>
        <p:nvPicPr>
          <p:cNvPr id="24" name="Image 0" descr="/tmp/spotwise_deck/02_login.png"/>
          <p:cNvPicPr>
            <a:picLocks noChangeAspect="1"/>
          </p:cNvPicPr>
          <p:nvPr/>
        </p:nvPicPr>
        <p:blipFill>
          <a:blip r:embed="rId3"/>
          <a:stretch>
            <a:fillRect/>
          </a:stretch>
        </p:blipFill>
        <p:spPr>
          <a:xfrm>
            <a:off x="9006840" y="914400"/>
            <a:ext cx="2366173" cy="5120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6F3"/>
        </a:solidFill>
        <a:effectLst/>
      </p:bgPr>
    </p:bg>
    <p:spTree>
      <p:nvGrpSpPr>
        <p:cNvPr id="1" name=""/>
        <p:cNvGrpSpPr/>
        <p:nvPr/>
      </p:nvGrpSpPr>
      <p:grpSpPr>
        <a:xfrm>
          <a:off x="0" y="0"/>
          <a:ext cx="0" cy="0"/>
          <a:chOff x="0" y="0"/>
          <a:chExt cx="0" cy="0"/>
        </a:xfrm>
      </p:grpSpPr>
      <p:sp>
        <p:nvSpPr>
          <p:cNvPr id="2" name="Text 0"/>
          <p:cNvSpPr/>
          <p:nvPr/>
        </p:nvSpPr>
        <p:spPr>
          <a:xfrm>
            <a:off x="822960" y="548640"/>
            <a:ext cx="5669280" cy="640080"/>
          </a:xfrm>
          <a:prstGeom prst="rect">
            <a:avLst/>
          </a:prstGeom>
          <a:noFill/>
          <a:ln/>
        </p:spPr>
        <p:txBody>
          <a:bodyPr wrap="square" lIns="0" tIns="0" rIns="0" bIns="0" rtlCol="0" anchor="ctr"/>
          <a:lstStyle/>
          <a:p>
            <a:pPr marL="0" indent="0">
              <a:buNone/>
            </a:pPr>
            <a:r>
              <a:rPr lang="en-US" sz="3200" b="1" dirty="0">
                <a:solidFill>
                  <a:srgbClr val="17191A"/>
                </a:solidFill>
                <a:latin typeface="Trebuchet MS" pitchFamily="34" charset="0"/>
                <a:ea typeface="Trebuchet MS" pitchFamily="34" charset="-122"/>
                <a:cs typeface="Trebuchet MS" pitchFamily="34" charset="-120"/>
              </a:rPr>
              <a:t>Connected to the cloud</a:t>
            </a:r>
            <a:endParaRPr lang="en-US" sz="3200" dirty="0"/>
          </a:p>
        </p:txBody>
      </p:sp>
      <p:sp>
        <p:nvSpPr>
          <p:cNvPr id="3" name="Text 1"/>
          <p:cNvSpPr/>
          <p:nvPr/>
        </p:nvSpPr>
        <p:spPr>
          <a:xfrm>
            <a:off x="822960" y="1325880"/>
            <a:ext cx="5486400" cy="685800"/>
          </a:xfrm>
          <a:prstGeom prst="rect">
            <a:avLst/>
          </a:prstGeom>
          <a:noFill/>
          <a:ln/>
        </p:spPr>
        <p:txBody>
          <a:bodyPr wrap="square" lIns="0" tIns="0" rIns="0" bIns="0" rtlCol="0" anchor="ctr"/>
          <a:lstStyle/>
          <a:p>
            <a:pPr marL="0" indent="0">
              <a:buNone/>
            </a:pPr>
            <a:r>
              <a:rPr lang="en-US" sz="1450" dirty="0">
                <a:solidFill>
                  <a:srgbClr val="667075"/>
                </a:solidFill>
                <a:latin typeface="Calibri" pitchFamily="34" charset="0"/>
                <a:ea typeface="Calibri" pitchFamily="34" charset="-122"/>
                <a:cs typeface="Calibri" pitchFamily="34" charset="-120"/>
              </a:rPr>
              <a:t>Three services run outside the app — yet it still works free without them.</a:t>
            </a:r>
            <a:endParaRPr lang="en-US" sz="1450" dirty="0"/>
          </a:p>
        </p:txBody>
      </p:sp>
      <p:sp>
        <p:nvSpPr>
          <p:cNvPr id="4" name="Shape 2"/>
          <p:cNvSpPr/>
          <p:nvPr/>
        </p:nvSpPr>
        <p:spPr>
          <a:xfrm>
            <a:off x="822960" y="2331720"/>
            <a:ext cx="5486400" cy="914400"/>
          </a:xfrm>
          <a:prstGeom prst="roundRect">
            <a:avLst>
              <a:gd name="adj" fmla="val 10000"/>
            </a:avLst>
          </a:prstGeom>
          <a:solidFill>
            <a:srgbClr val="FFFFFF"/>
          </a:solidFill>
          <a:ln/>
          <a:effectLst>
            <a:outerShdw blurRad="152400" dist="63500" dir="5400000" algn="bl" rotWithShape="0">
              <a:srgbClr val="000000">
                <a:alpha val="28000"/>
              </a:srgbClr>
            </a:outerShdw>
          </a:effectLst>
        </p:spPr>
      </p:sp>
      <p:sp>
        <p:nvSpPr>
          <p:cNvPr id="5" name="Shape 3"/>
          <p:cNvSpPr/>
          <p:nvPr/>
        </p:nvSpPr>
        <p:spPr>
          <a:xfrm>
            <a:off x="1143000" y="2606040"/>
            <a:ext cx="365760" cy="365760"/>
          </a:xfrm>
          <a:prstGeom prst="ellipse">
            <a:avLst/>
          </a:prstGeom>
          <a:solidFill>
            <a:srgbClr val="0F766E"/>
          </a:solidFill>
          <a:ln/>
        </p:spPr>
      </p:sp>
      <p:sp>
        <p:nvSpPr>
          <p:cNvPr id="6" name="Text 4"/>
          <p:cNvSpPr/>
          <p:nvPr/>
        </p:nvSpPr>
        <p:spPr>
          <a:xfrm>
            <a:off x="1691640" y="2468880"/>
            <a:ext cx="2743200" cy="365760"/>
          </a:xfrm>
          <a:prstGeom prst="rect">
            <a:avLst/>
          </a:prstGeom>
          <a:noFill/>
          <a:ln/>
        </p:spPr>
        <p:txBody>
          <a:bodyPr wrap="square" lIns="0" tIns="0" rIns="0" bIns="0" rtlCol="0" anchor="ctr"/>
          <a:lstStyle/>
          <a:p>
            <a:pPr marL="0" indent="0">
              <a:buNone/>
            </a:pPr>
            <a:r>
              <a:rPr lang="en-US" sz="1550" b="1" dirty="0">
                <a:solidFill>
                  <a:srgbClr val="17191A"/>
                </a:solidFill>
                <a:latin typeface="Trebuchet MS" pitchFamily="34" charset="0"/>
                <a:ea typeface="Trebuchet MS" pitchFamily="34" charset="-122"/>
                <a:cs typeface="Trebuchet MS" pitchFamily="34" charset="-120"/>
              </a:rPr>
              <a:t>Firebase</a:t>
            </a:r>
            <a:endParaRPr lang="en-US" sz="1550" dirty="0"/>
          </a:p>
        </p:txBody>
      </p:sp>
      <p:sp>
        <p:nvSpPr>
          <p:cNvPr id="7" name="Text 5"/>
          <p:cNvSpPr/>
          <p:nvPr/>
        </p:nvSpPr>
        <p:spPr>
          <a:xfrm>
            <a:off x="1691640" y="2834640"/>
            <a:ext cx="2743200" cy="32004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Accounts, live database and photos.</a:t>
            </a:r>
            <a:endParaRPr lang="en-US" sz="1250" dirty="0"/>
          </a:p>
        </p:txBody>
      </p:sp>
      <p:sp>
        <p:nvSpPr>
          <p:cNvPr id="8" name="Shape 6"/>
          <p:cNvSpPr/>
          <p:nvPr/>
        </p:nvSpPr>
        <p:spPr>
          <a:xfrm>
            <a:off x="4663440" y="2606040"/>
            <a:ext cx="1417320" cy="365760"/>
          </a:xfrm>
          <a:prstGeom prst="roundRect">
            <a:avLst>
              <a:gd name="adj" fmla="val 50000"/>
            </a:avLst>
          </a:prstGeom>
          <a:solidFill>
            <a:srgbClr val="E2EFED"/>
          </a:solidFill>
          <a:ln/>
        </p:spPr>
      </p:sp>
      <p:sp>
        <p:nvSpPr>
          <p:cNvPr id="9" name="Text 7"/>
          <p:cNvSpPr/>
          <p:nvPr/>
        </p:nvSpPr>
        <p:spPr>
          <a:xfrm>
            <a:off x="4663440" y="2606040"/>
            <a:ext cx="1417320" cy="365760"/>
          </a:xfrm>
          <a:prstGeom prst="rect">
            <a:avLst/>
          </a:prstGeom>
          <a:noFill/>
          <a:ln/>
        </p:spPr>
        <p:txBody>
          <a:bodyPr wrap="square" lIns="0" tIns="0" rIns="0" bIns="0" rtlCol="0" anchor="ctr"/>
          <a:lstStyle/>
          <a:p>
            <a:pPr marL="0" indent="0" algn="ctr">
              <a:buNone/>
            </a:pPr>
            <a:r>
              <a:rPr lang="en-US" sz="1100" b="1" dirty="0">
                <a:solidFill>
                  <a:srgbClr val="0F766E"/>
                </a:solidFill>
                <a:latin typeface="Trebuchet MS" pitchFamily="34" charset="0"/>
                <a:ea typeface="Trebuchet MS" pitchFamily="34" charset="-122"/>
                <a:cs typeface="Trebuchet MS" pitchFamily="34" charset="-120"/>
              </a:rPr>
              <a:t>Connected</a:t>
            </a:r>
            <a:endParaRPr lang="en-US" sz="1100" dirty="0"/>
          </a:p>
        </p:txBody>
      </p:sp>
      <p:sp>
        <p:nvSpPr>
          <p:cNvPr id="10" name="Shape 8"/>
          <p:cNvSpPr/>
          <p:nvPr/>
        </p:nvSpPr>
        <p:spPr>
          <a:xfrm>
            <a:off x="822960" y="3474720"/>
            <a:ext cx="5486400" cy="914400"/>
          </a:xfrm>
          <a:prstGeom prst="roundRect">
            <a:avLst>
              <a:gd name="adj" fmla="val 10000"/>
            </a:avLst>
          </a:prstGeom>
          <a:solidFill>
            <a:srgbClr val="FFFFFF"/>
          </a:solidFill>
          <a:ln/>
          <a:effectLst>
            <a:outerShdw blurRad="152400" dist="63500" dir="5400000" algn="bl" rotWithShape="0">
              <a:srgbClr val="000000">
                <a:alpha val="28000"/>
              </a:srgbClr>
            </a:outerShdw>
          </a:effectLst>
        </p:spPr>
      </p:sp>
      <p:sp>
        <p:nvSpPr>
          <p:cNvPr id="11" name="Shape 9"/>
          <p:cNvSpPr/>
          <p:nvPr/>
        </p:nvSpPr>
        <p:spPr>
          <a:xfrm>
            <a:off x="1143000" y="3749040"/>
            <a:ext cx="365760" cy="365760"/>
          </a:xfrm>
          <a:prstGeom prst="ellipse">
            <a:avLst/>
          </a:prstGeom>
          <a:solidFill>
            <a:srgbClr val="0F766E"/>
          </a:solidFill>
          <a:ln/>
        </p:spPr>
      </p:sp>
      <p:sp>
        <p:nvSpPr>
          <p:cNvPr id="12" name="Text 10"/>
          <p:cNvSpPr/>
          <p:nvPr/>
        </p:nvSpPr>
        <p:spPr>
          <a:xfrm>
            <a:off x="1691640" y="3611880"/>
            <a:ext cx="2743200" cy="365760"/>
          </a:xfrm>
          <a:prstGeom prst="rect">
            <a:avLst/>
          </a:prstGeom>
          <a:noFill/>
          <a:ln/>
        </p:spPr>
        <p:txBody>
          <a:bodyPr wrap="square" lIns="0" tIns="0" rIns="0" bIns="0" rtlCol="0" anchor="ctr"/>
          <a:lstStyle/>
          <a:p>
            <a:pPr marL="0" indent="0">
              <a:buNone/>
            </a:pPr>
            <a:r>
              <a:rPr lang="en-US" sz="1550" b="1" dirty="0">
                <a:solidFill>
                  <a:srgbClr val="17191A"/>
                </a:solidFill>
                <a:latin typeface="Trebuchet MS" pitchFamily="34" charset="0"/>
                <a:ea typeface="Trebuchet MS" pitchFamily="34" charset="-122"/>
                <a:cs typeface="Trebuchet MS" pitchFamily="34" charset="-120"/>
              </a:rPr>
              <a:t>Google Gemini</a:t>
            </a:r>
            <a:endParaRPr lang="en-US" sz="1550" dirty="0"/>
          </a:p>
        </p:txBody>
      </p:sp>
      <p:sp>
        <p:nvSpPr>
          <p:cNvPr id="13" name="Text 11"/>
          <p:cNvSpPr/>
          <p:nvPr/>
        </p:nvSpPr>
        <p:spPr>
          <a:xfrm>
            <a:off x="1691640" y="3977640"/>
            <a:ext cx="2743200" cy="32004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Builds the real AI trip plans.</a:t>
            </a:r>
            <a:endParaRPr lang="en-US" sz="1250" dirty="0"/>
          </a:p>
        </p:txBody>
      </p:sp>
      <p:sp>
        <p:nvSpPr>
          <p:cNvPr id="14" name="Shape 12"/>
          <p:cNvSpPr/>
          <p:nvPr/>
        </p:nvSpPr>
        <p:spPr>
          <a:xfrm>
            <a:off x="4663440" y="3749040"/>
            <a:ext cx="1417320" cy="365760"/>
          </a:xfrm>
          <a:prstGeom prst="roundRect">
            <a:avLst>
              <a:gd name="adj" fmla="val 50000"/>
            </a:avLst>
          </a:prstGeom>
          <a:solidFill>
            <a:srgbClr val="E2EFED"/>
          </a:solidFill>
          <a:ln/>
        </p:spPr>
      </p:sp>
      <p:sp>
        <p:nvSpPr>
          <p:cNvPr id="15" name="Text 13"/>
          <p:cNvSpPr/>
          <p:nvPr/>
        </p:nvSpPr>
        <p:spPr>
          <a:xfrm>
            <a:off x="4663440" y="3749040"/>
            <a:ext cx="1417320" cy="365760"/>
          </a:xfrm>
          <a:prstGeom prst="rect">
            <a:avLst/>
          </a:prstGeom>
          <a:noFill/>
          <a:ln/>
        </p:spPr>
        <p:txBody>
          <a:bodyPr wrap="square" lIns="0" tIns="0" rIns="0" bIns="0" rtlCol="0" anchor="ctr"/>
          <a:lstStyle/>
          <a:p>
            <a:pPr marL="0" indent="0" algn="ctr">
              <a:buNone/>
            </a:pPr>
            <a:r>
              <a:rPr lang="en-US" sz="1100" b="1" dirty="0">
                <a:solidFill>
                  <a:srgbClr val="0F766E"/>
                </a:solidFill>
                <a:latin typeface="Trebuchet MS" pitchFamily="34" charset="0"/>
                <a:ea typeface="Trebuchet MS" pitchFamily="34" charset="-122"/>
                <a:cs typeface="Trebuchet MS" pitchFamily="34" charset="-120"/>
              </a:rPr>
              <a:t>Connected</a:t>
            </a:r>
            <a:endParaRPr lang="en-US" sz="1100" dirty="0"/>
          </a:p>
        </p:txBody>
      </p:sp>
      <p:sp>
        <p:nvSpPr>
          <p:cNvPr id="16" name="Shape 14"/>
          <p:cNvSpPr/>
          <p:nvPr/>
        </p:nvSpPr>
        <p:spPr>
          <a:xfrm>
            <a:off x="822960" y="4617720"/>
            <a:ext cx="5486400" cy="914400"/>
          </a:xfrm>
          <a:prstGeom prst="roundRect">
            <a:avLst>
              <a:gd name="adj" fmla="val 10000"/>
            </a:avLst>
          </a:prstGeom>
          <a:solidFill>
            <a:srgbClr val="FFFFFF"/>
          </a:solidFill>
          <a:ln/>
          <a:effectLst>
            <a:outerShdw blurRad="152400" dist="63500" dir="5400000" algn="bl" rotWithShape="0">
              <a:srgbClr val="000000">
                <a:alpha val="28000"/>
              </a:srgbClr>
            </a:outerShdw>
          </a:effectLst>
        </p:spPr>
      </p:sp>
      <p:sp>
        <p:nvSpPr>
          <p:cNvPr id="17" name="Shape 15"/>
          <p:cNvSpPr/>
          <p:nvPr/>
        </p:nvSpPr>
        <p:spPr>
          <a:xfrm>
            <a:off x="1143000" y="4892040"/>
            <a:ext cx="365760" cy="365760"/>
          </a:xfrm>
          <a:prstGeom prst="ellipse">
            <a:avLst/>
          </a:prstGeom>
          <a:solidFill>
            <a:srgbClr val="0F766E"/>
          </a:solidFill>
          <a:ln/>
        </p:spPr>
      </p:sp>
      <p:sp>
        <p:nvSpPr>
          <p:cNvPr id="18" name="Text 16"/>
          <p:cNvSpPr/>
          <p:nvPr/>
        </p:nvSpPr>
        <p:spPr>
          <a:xfrm>
            <a:off x="1691640" y="4754880"/>
            <a:ext cx="2743200" cy="365760"/>
          </a:xfrm>
          <a:prstGeom prst="rect">
            <a:avLst/>
          </a:prstGeom>
          <a:noFill/>
          <a:ln/>
        </p:spPr>
        <p:txBody>
          <a:bodyPr wrap="square" lIns="0" tIns="0" rIns="0" bIns="0" rtlCol="0" anchor="ctr"/>
          <a:lstStyle/>
          <a:p>
            <a:pPr marL="0" indent="0">
              <a:buNone/>
            </a:pPr>
            <a:r>
              <a:rPr lang="en-US" sz="1550" b="1" dirty="0">
                <a:solidFill>
                  <a:srgbClr val="17191A"/>
                </a:solidFill>
                <a:latin typeface="Trebuchet MS" pitchFamily="34" charset="0"/>
                <a:ea typeface="Trebuchet MS" pitchFamily="34" charset="-122"/>
                <a:cs typeface="Trebuchet MS" pitchFamily="34" charset="-120"/>
              </a:rPr>
              <a:t>Push notifications</a:t>
            </a:r>
            <a:endParaRPr lang="en-US" sz="1550" dirty="0"/>
          </a:p>
        </p:txBody>
      </p:sp>
      <p:sp>
        <p:nvSpPr>
          <p:cNvPr id="19" name="Text 17"/>
          <p:cNvSpPr/>
          <p:nvPr/>
        </p:nvSpPr>
        <p:spPr>
          <a:xfrm>
            <a:off x="1691640" y="5120640"/>
            <a:ext cx="2743200" cy="32004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Trip reminders on Android.</a:t>
            </a:r>
            <a:endParaRPr lang="en-US" sz="1250" dirty="0"/>
          </a:p>
        </p:txBody>
      </p:sp>
      <p:sp>
        <p:nvSpPr>
          <p:cNvPr id="20" name="Shape 18"/>
          <p:cNvSpPr/>
          <p:nvPr/>
        </p:nvSpPr>
        <p:spPr>
          <a:xfrm>
            <a:off x="4663440" y="4892040"/>
            <a:ext cx="1417320" cy="365760"/>
          </a:xfrm>
          <a:prstGeom prst="roundRect">
            <a:avLst>
              <a:gd name="adj" fmla="val 50000"/>
            </a:avLst>
          </a:prstGeom>
          <a:solidFill>
            <a:srgbClr val="E2EFED"/>
          </a:solidFill>
          <a:ln/>
        </p:spPr>
      </p:sp>
      <p:sp>
        <p:nvSpPr>
          <p:cNvPr id="21" name="Text 19"/>
          <p:cNvSpPr/>
          <p:nvPr/>
        </p:nvSpPr>
        <p:spPr>
          <a:xfrm>
            <a:off x="4663440" y="4892040"/>
            <a:ext cx="1417320" cy="365760"/>
          </a:xfrm>
          <a:prstGeom prst="rect">
            <a:avLst/>
          </a:prstGeom>
          <a:noFill/>
          <a:ln/>
        </p:spPr>
        <p:txBody>
          <a:bodyPr wrap="square" lIns="0" tIns="0" rIns="0" bIns="0" rtlCol="0" anchor="ctr"/>
          <a:lstStyle/>
          <a:p>
            <a:pPr marL="0" indent="0" algn="ctr">
              <a:buNone/>
            </a:pPr>
            <a:r>
              <a:rPr lang="en-US" sz="1100" b="1" dirty="0">
                <a:solidFill>
                  <a:srgbClr val="0F766E"/>
                </a:solidFill>
                <a:latin typeface="Trebuchet MS" pitchFamily="34" charset="0"/>
                <a:ea typeface="Trebuchet MS" pitchFamily="34" charset="-122"/>
                <a:cs typeface="Trebuchet MS" pitchFamily="34" charset="-120"/>
              </a:rPr>
              <a:t>On Android</a:t>
            </a:r>
            <a:endParaRPr lang="en-US" sz="1100" dirty="0"/>
          </a:p>
        </p:txBody>
      </p:sp>
      <p:sp>
        <p:nvSpPr>
          <p:cNvPr id="22" name="Shape 20"/>
          <p:cNvSpPr/>
          <p:nvPr/>
        </p:nvSpPr>
        <p:spPr>
          <a:xfrm>
            <a:off x="6647688" y="841248"/>
            <a:ext cx="2512477" cy="5266944"/>
          </a:xfrm>
          <a:prstGeom prst="roundRect">
            <a:avLst>
              <a:gd name="adj" fmla="val 4367"/>
            </a:avLst>
          </a:prstGeom>
          <a:solidFill>
            <a:srgbClr val="17191A"/>
          </a:solidFill>
          <a:ln w="12700">
            <a:solidFill>
              <a:srgbClr val="17191A"/>
            </a:solidFill>
            <a:prstDash val="solid"/>
          </a:ln>
          <a:effectLst>
            <a:outerShdw blurRad="152400" dist="63500" dir="5400000" algn="bl" rotWithShape="0">
              <a:srgbClr val="000000">
                <a:alpha val="28000"/>
              </a:srgbClr>
            </a:outerShdw>
          </a:effectLst>
        </p:spPr>
      </p:sp>
      <p:pic>
        <p:nvPicPr>
          <p:cNvPr id="23" name="Image 0" descr="/tmp/spotwise_deck/12_integrations.png"/>
          <p:cNvPicPr>
            <a:picLocks noChangeAspect="1"/>
          </p:cNvPicPr>
          <p:nvPr/>
        </p:nvPicPr>
        <p:blipFill>
          <a:blip r:embed="rId3"/>
          <a:stretch>
            <a:fillRect/>
          </a:stretch>
        </p:blipFill>
        <p:spPr>
          <a:xfrm>
            <a:off x="6720840" y="914400"/>
            <a:ext cx="2366173" cy="5120640"/>
          </a:xfrm>
          <a:prstGeom prst="rect">
            <a:avLst/>
          </a:prstGeom>
        </p:spPr>
      </p:pic>
      <p:sp>
        <p:nvSpPr>
          <p:cNvPr id="24" name="Shape 21"/>
          <p:cNvSpPr/>
          <p:nvPr/>
        </p:nvSpPr>
        <p:spPr>
          <a:xfrm>
            <a:off x="9299448" y="841248"/>
            <a:ext cx="2512477" cy="5266944"/>
          </a:xfrm>
          <a:prstGeom prst="roundRect">
            <a:avLst>
              <a:gd name="adj" fmla="val 4367"/>
            </a:avLst>
          </a:prstGeom>
          <a:solidFill>
            <a:srgbClr val="17191A"/>
          </a:solidFill>
          <a:ln w="12700">
            <a:solidFill>
              <a:srgbClr val="17191A"/>
            </a:solidFill>
            <a:prstDash val="solid"/>
          </a:ln>
          <a:effectLst>
            <a:outerShdw blurRad="152400" dist="63500" dir="5400000" algn="bl" rotWithShape="0">
              <a:srgbClr val="000000">
                <a:alpha val="28000"/>
              </a:srgbClr>
            </a:outerShdw>
          </a:effectLst>
        </p:spPr>
      </p:sp>
      <p:pic>
        <p:nvPicPr>
          <p:cNvPr id="25" name="Image 1" descr="/tmp/spotwise_deck/13_notifications.png"/>
          <p:cNvPicPr>
            <a:picLocks noChangeAspect="1"/>
          </p:cNvPicPr>
          <p:nvPr/>
        </p:nvPicPr>
        <p:blipFill>
          <a:blip r:embed="rId4"/>
          <a:stretch>
            <a:fillRect/>
          </a:stretch>
        </p:blipFill>
        <p:spPr>
          <a:xfrm>
            <a:off x="9372600" y="914400"/>
            <a:ext cx="2366173" cy="5120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6F3"/>
        </a:solidFill>
        <a:effectLst/>
      </p:bgPr>
    </p:bg>
    <p:spTree>
      <p:nvGrpSpPr>
        <p:cNvPr id="1" name=""/>
        <p:cNvGrpSpPr/>
        <p:nvPr/>
      </p:nvGrpSpPr>
      <p:grpSpPr>
        <a:xfrm>
          <a:off x="0" y="0"/>
          <a:ext cx="0" cy="0"/>
          <a:chOff x="0" y="0"/>
          <a:chExt cx="0" cy="0"/>
        </a:xfrm>
      </p:grpSpPr>
      <p:sp>
        <p:nvSpPr>
          <p:cNvPr id="2" name="Text 0"/>
          <p:cNvSpPr/>
          <p:nvPr/>
        </p:nvSpPr>
        <p:spPr>
          <a:xfrm>
            <a:off x="822960" y="685800"/>
            <a:ext cx="5669280" cy="1097280"/>
          </a:xfrm>
          <a:prstGeom prst="rect">
            <a:avLst/>
          </a:prstGeom>
          <a:noFill/>
          <a:ln/>
        </p:spPr>
        <p:txBody>
          <a:bodyPr wrap="square" lIns="0" tIns="0" rIns="0" bIns="0" rtlCol="0" anchor="ctr"/>
          <a:lstStyle/>
          <a:p>
            <a:pPr marL="0" indent="0">
              <a:buNone/>
            </a:pPr>
            <a:r>
              <a:rPr lang="en-US" sz="3200" b="1" dirty="0">
                <a:solidFill>
                  <a:srgbClr val="17191A"/>
                </a:solidFill>
                <a:latin typeface="Trebuchet MS" pitchFamily="34" charset="0"/>
                <a:ea typeface="Trebuchet MS" pitchFamily="34" charset="-122"/>
                <a:cs typeface="Trebuchet MS" pitchFamily="34" charset="-120"/>
              </a:rPr>
              <a:t>Find places worth visiting</a:t>
            </a:r>
            <a:endParaRPr lang="en-US" sz="3200" dirty="0"/>
          </a:p>
        </p:txBody>
      </p:sp>
      <p:sp>
        <p:nvSpPr>
          <p:cNvPr id="3" name="Shape 1"/>
          <p:cNvSpPr/>
          <p:nvPr/>
        </p:nvSpPr>
        <p:spPr>
          <a:xfrm>
            <a:off x="822960" y="2340864"/>
            <a:ext cx="118872" cy="118872"/>
          </a:xfrm>
          <a:prstGeom prst="ellipse">
            <a:avLst/>
          </a:prstGeom>
          <a:solidFill>
            <a:srgbClr val="0F766E"/>
          </a:solidFill>
          <a:ln/>
        </p:spPr>
      </p:sp>
      <p:sp>
        <p:nvSpPr>
          <p:cNvPr id="4" name="Text 2"/>
          <p:cNvSpPr/>
          <p:nvPr/>
        </p:nvSpPr>
        <p:spPr>
          <a:xfrm>
            <a:off x="1115568" y="2240280"/>
            <a:ext cx="510235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Pick a country and a city — or search anywhere.</a:t>
            </a:r>
            <a:endParaRPr lang="en-US" sz="1500" dirty="0"/>
          </a:p>
        </p:txBody>
      </p:sp>
      <p:sp>
        <p:nvSpPr>
          <p:cNvPr id="5" name="Shape 3"/>
          <p:cNvSpPr/>
          <p:nvPr/>
        </p:nvSpPr>
        <p:spPr>
          <a:xfrm>
            <a:off x="822960" y="3118104"/>
            <a:ext cx="118872" cy="118872"/>
          </a:xfrm>
          <a:prstGeom prst="ellipse">
            <a:avLst/>
          </a:prstGeom>
          <a:solidFill>
            <a:srgbClr val="0F766E"/>
          </a:solidFill>
          <a:ln/>
        </p:spPr>
      </p:sp>
      <p:sp>
        <p:nvSpPr>
          <p:cNvPr id="6" name="Text 4"/>
          <p:cNvSpPr/>
          <p:nvPr/>
        </p:nvSpPr>
        <p:spPr>
          <a:xfrm>
            <a:off x="1115568" y="3017520"/>
            <a:ext cx="510235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Filter by category: food, beach, history and more.</a:t>
            </a:r>
            <a:endParaRPr lang="en-US" sz="1500" dirty="0"/>
          </a:p>
        </p:txBody>
      </p:sp>
      <p:sp>
        <p:nvSpPr>
          <p:cNvPr id="7" name="Shape 5"/>
          <p:cNvSpPr/>
          <p:nvPr/>
        </p:nvSpPr>
        <p:spPr>
          <a:xfrm>
            <a:off x="822960" y="3895344"/>
            <a:ext cx="118872" cy="118872"/>
          </a:xfrm>
          <a:prstGeom prst="ellipse">
            <a:avLst/>
          </a:prstGeom>
          <a:solidFill>
            <a:srgbClr val="0F766E"/>
          </a:solidFill>
          <a:ln/>
        </p:spPr>
      </p:sp>
      <p:sp>
        <p:nvSpPr>
          <p:cNvPr id="8" name="Text 6"/>
          <p:cNvSpPr/>
          <p:nvPr/>
        </p:nvSpPr>
        <p:spPr>
          <a:xfrm>
            <a:off x="1115568" y="3794760"/>
            <a:ext cx="510235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See every spot on a live map.</a:t>
            </a:r>
            <a:endParaRPr lang="en-US" sz="1500" dirty="0"/>
          </a:p>
        </p:txBody>
      </p:sp>
      <p:sp>
        <p:nvSpPr>
          <p:cNvPr id="9" name="Text 7"/>
          <p:cNvSpPr/>
          <p:nvPr/>
        </p:nvSpPr>
        <p:spPr>
          <a:xfrm>
            <a:off x="822960" y="4846320"/>
            <a:ext cx="5029200" cy="411480"/>
          </a:xfrm>
          <a:prstGeom prst="rect">
            <a:avLst/>
          </a:prstGeom>
          <a:noFill/>
          <a:ln/>
        </p:spPr>
        <p:txBody>
          <a:bodyPr wrap="square" lIns="0" tIns="0" rIns="0" bIns="0" rtlCol="0" anchor="ctr"/>
          <a:lstStyle/>
          <a:p>
            <a:pPr marL="0" indent="0">
              <a:buNone/>
            </a:pPr>
            <a:r>
              <a:rPr lang="en-US" sz="1600" b="1" dirty="0">
                <a:solidFill>
                  <a:srgbClr val="0F766E"/>
                </a:solidFill>
                <a:latin typeface="Trebuchet MS" pitchFamily="34" charset="0"/>
                <a:ea typeface="Trebuchet MS" pitchFamily="34" charset="-122"/>
                <a:cs typeface="Trebuchet MS" pitchFamily="34" charset="-120"/>
              </a:rPr>
              <a:t>62 spots</a:t>
            </a:r>
            <a:r>
              <a:rPr lang="en-US" sz="1600" dirty="0">
                <a:solidFill>
                  <a:srgbClr val="9AA2A6"/>
                </a:solidFill>
                <a:latin typeface="Trebuchet MS" pitchFamily="34" charset="0"/>
                <a:ea typeface="Trebuchet MS" pitchFamily="34" charset="-122"/>
                <a:cs typeface="Trebuchet MS" pitchFamily="34" charset="-120"/>
              </a:rPr>
              <a:t>  ·  </a:t>
            </a:r>
            <a:r>
              <a:rPr lang="en-US" sz="1600" b="1" dirty="0">
                <a:solidFill>
                  <a:srgbClr val="0F766E"/>
                </a:solidFill>
                <a:latin typeface="Trebuchet MS" pitchFamily="34" charset="0"/>
                <a:ea typeface="Trebuchet MS" pitchFamily="34" charset="-122"/>
                <a:cs typeface="Trebuchet MS" pitchFamily="34" charset="-120"/>
              </a:rPr>
              <a:t>13 cities</a:t>
            </a:r>
            <a:r>
              <a:rPr lang="en-US" sz="1600" dirty="0">
                <a:solidFill>
                  <a:srgbClr val="9AA2A6"/>
                </a:solidFill>
                <a:latin typeface="Trebuchet MS" pitchFamily="34" charset="0"/>
                <a:ea typeface="Trebuchet MS" pitchFamily="34" charset="-122"/>
                <a:cs typeface="Trebuchet MS" pitchFamily="34" charset="-120"/>
              </a:rPr>
              <a:t>  ·  </a:t>
            </a:r>
            <a:r>
              <a:rPr lang="en-US" sz="1600" b="1" dirty="0">
                <a:solidFill>
                  <a:srgbClr val="0F766E"/>
                </a:solidFill>
                <a:latin typeface="Trebuchet MS" pitchFamily="34" charset="0"/>
                <a:ea typeface="Trebuchet MS" pitchFamily="34" charset="-122"/>
                <a:cs typeface="Trebuchet MS" pitchFamily="34" charset="-120"/>
              </a:rPr>
              <a:t>12 countries</a:t>
            </a:r>
            <a:endParaRPr lang="en-US" sz="1600" dirty="0"/>
          </a:p>
        </p:txBody>
      </p:sp>
      <p:sp>
        <p:nvSpPr>
          <p:cNvPr id="10" name="Shape 8"/>
          <p:cNvSpPr/>
          <p:nvPr/>
        </p:nvSpPr>
        <p:spPr>
          <a:xfrm>
            <a:off x="6647688" y="841248"/>
            <a:ext cx="2512477" cy="5266944"/>
          </a:xfrm>
          <a:prstGeom prst="roundRect">
            <a:avLst>
              <a:gd name="adj" fmla="val 4367"/>
            </a:avLst>
          </a:prstGeom>
          <a:solidFill>
            <a:srgbClr val="17191A"/>
          </a:solidFill>
          <a:ln w="12700">
            <a:solidFill>
              <a:srgbClr val="17191A"/>
            </a:solidFill>
            <a:prstDash val="solid"/>
          </a:ln>
          <a:effectLst>
            <a:outerShdw blurRad="152400" dist="63500" dir="5400000" algn="bl" rotWithShape="0">
              <a:srgbClr val="000000">
                <a:alpha val="28000"/>
              </a:srgbClr>
            </a:outerShdw>
          </a:effectLst>
        </p:spPr>
      </p:sp>
      <p:pic>
        <p:nvPicPr>
          <p:cNvPr id="11" name="Image 0" descr="/tmp/spotwise_deck/03_home.png"/>
          <p:cNvPicPr>
            <a:picLocks noChangeAspect="1"/>
          </p:cNvPicPr>
          <p:nvPr/>
        </p:nvPicPr>
        <p:blipFill>
          <a:blip r:embed="rId3"/>
          <a:stretch>
            <a:fillRect/>
          </a:stretch>
        </p:blipFill>
        <p:spPr>
          <a:xfrm>
            <a:off x="6720840" y="914400"/>
            <a:ext cx="2366173" cy="5120640"/>
          </a:xfrm>
          <a:prstGeom prst="rect">
            <a:avLst/>
          </a:prstGeom>
        </p:spPr>
      </p:pic>
      <p:sp>
        <p:nvSpPr>
          <p:cNvPr id="12" name="Shape 9"/>
          <p:cNvSpPr/>
          <p:nvPr/>
        </p:nvSpPr>
        <p:spPr>
          <a:xfrm>
            <a:off x="9299448" y="841248"/>
            <a:ext cx="2512477" cy="5266944"/>
          </a:xfrm>
          <a:prstGeom prst="roundRect">
            <a:avLst>
              <a:gd name="adj" fmla="val 4367"/>
            </a:avLst>
          </a:prstGeom>
          <a:solidFill>
            <a:srgbClr val="17191A"/>
          </a:solidFill>
          <a:ln w="12700">
            <a:solidFill>
              <a:srgbClr val="17191A"/>
            </a:solidFill>
            <a:prstDash val="solid"/>
          </a:ln>
          <a:effectLst>
            <a:outerShdw blurRad="152400" dist="63500" dir="5400000" algn="bl" rotWithShape="0">
              <a:srgbClr val="000000">
                <a:alpha val="28000"/>
              </a:srgbClr>
            </a:outerShdw>
          </a:effectLst>
        </p:spPr>
      </p:sp>
      <p:pic>
        <p:nvPicPr>
          <p:cNvPr id="13" name="Image 1" descr="/tmp/spotwise_deck/04_map.png"/>
          <p:cNvPicPr>
            <a:picLocks noChangeAspect="1"/>
          </p:cNvPicPr>
          <p:nvPr/>
        </p:nvPicPr>
        <p:blipFill>
          <a:blip r:embed="rId4"/>
          <a:stretch>
            <a:fillRect/>
          </a:stretch>
        </p:blipFill>
        <p:spPr>
          <a:xfrm>
            <a:off x="9372600" y="914400"/>
            <a:ext cx="2366173" cy="5120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6F3"/>
        </a:solidFill>
        <a:effectLst/>
      </p:bgPr>
    </p:bg>
    <p:spTree>
      <p:nvGrpSpPr>
        <p:cNvPr id="1" name=""/>
        <p:cNvGrpSpPr/>
        <p:nvPr/>
      </p:nvGrpSpPr>
      <p:grpSpPr>
        <a:xfrm>
          <a:off x="0" y="0"/>
          <a:ext cx="0" cy="0"/>
          <a:chOff x="0" y="0"/>
          <a:chExt cx="0" cy="0"/>
        </a:xfrm>
      </p:grpSpPr>
      <p:sp>
        <p:nvSpPr>
          <p:cNvPr id="2" name="Shape 0"/>
          <p:cNvSpPr/>
          <p:nvPr/>
        </p:nvSpPr>
        <p:spPr>
          <a:xfrm>
            <a:off x="841248" y="841248"/>
            <a:ext cx="2512477" cy="5266944"/>
          </a:xfrm>
          <a:prstGeom prst="roundRect">
            <a:avLst>
              <a:gd name="adj" fmla="val 4367"/>
            </a:avLst>
          </a:prstGeom>
          <a:solidFill>
            <a:srgbClr val="17191A"/>
          </a:solidFill>
          <a:ln w="12700">
            <a:solidFill>
              <a:srgbClr val="17191A"/>
            </a:solidFill>
            <a:prstDash val="solid"/>
          </a:ln>
          <a:effectLst>
            <a:outerShdw blurRad="152400" dist="63500" dir="5400000" algn="bl" rotWithShape="0">
              <a:srgbClr val="000000">
                <a:alpha val="28000"/>
              </a:srgbClr>
            </a:outerShdw>
          </a:effectLst>
        </p:spPr>
      </p:sp>
      <p:pic>
        <p:nvPicPr>
          <p:cNvPr id="3" name="Image 0" descr="/tmp/spotwise_deck/08_spot_details.png"/>
          <p:cNvPicPr>
            <a:picLocks noChangeAspect="1"/>
          </p:cNvPicPr>
          <p:nvPr/>
        </p:nvPicPr>
        <p:blipFill>
          <a:blip r:embed="rId3"/>
          <a:stretch>
            <a:fillRect/>
          </a:stretch>
        </p:blipFill>
        <p:spPr>
          <a:xfrm>
            <a:off x="914400" y="914400"/>
            <a:ext cx="2366173" cy="5120640"/>
          </a:xfrm>
          <a:prstGeom prst="rect">
            <a:avLst/>
          </a:prstGeom>
        </p:spPr>
      </p:pic>
      <p:sp>
        <p:nvSpPr>
          <p:cNvPr id="4" name="Shape 1"/>
          <p:cNvSpPr/>
          <p:nvPr/>
        </p:nvSpPr>
        <p:spPr>
          <a:xfrm>
            <a:off x="3493008" y="841248"/>
            <a:ext cx="2512477" cy="5266944"/>
          </a:xfrm>
          <a:prstGeom prst="roundRect">
            <a:avLst>
              <a:gd name="adj" fmla="val 4367"/>
            </a:avLst>
          </a:prstGeom>
          <a:solidFill>
            <a:srgbClr val="17191A"/>
          </a:solidFill>
          <a:ln w="12700">
            <a:solidFill>
              <a:srgbClr val="17191A"/>
            </a:solidFill>
            <a:prstDash val="solid"/>
          </a:ln>
          <a:effectLst>
            <a:outerShdw blurRad="152400" dist="63500" dir="5400000" algn="bl" rotWithShape="0">
              <a:srgbClr val="000000">
                <a:alpha val="28000"/>
              </a:srgbClr>
            </a:outerShdw>
          </a:effectLst>
        </p:spPr>
      </p:sp>
      <p:pic>
        <p:nvPicPr>
          <p:cNvPr id="5" name="Image 1" descr="/tmp/spotwise_deck/10_add_spot.png"/>
          <p:cNvPicPr>
            <a:picLocks noChangeAspect="1"/>
          </p:cNvPicPr>
          <p:nvPr/>
        </p:nvPicPr>
        <p:blipFill>
          <a:blip r:embed="rId4"/>
          <a:stretch>
            <a:fillRect/>
          </a:stretch>
        </p:blipFill>
        <p:spPr>
          <a:xfrm>
            <a:off x="3566160" y="914400"/>
            <a:ext cx="2366173" cy="5120640"/>
          </a:xfrm>
          <a:prstGeom prst="rect">
            <a:avLst/>
          </a:prstGeom>
        </p:spPr>
      </p:pic>
      <p:sp>
        <p:nvSpPr>
          <p:cNvPr id="6" name="Text 2"/>
          <p:cNvSpPr/>
          <p:nvPr/>
        </p:nvSpPr>
        <p:spPr>
          <a:xfrm>
            <a:off x="6583680" y="868680"/>
            <a:ext cx="5120640" cy="640080"/>
          </a:xfrm>
          <a:prstGeom prst="rect">
            <a:avLst/>
          </a:prstGeom>
          <a:noFill/>
          <a:ln/>
        </p:spPr>
        <p:txBody>
          <a:bodyPr wrap="square" lIns="0" tIns="0" rIns="0" bIns="0" rtlCol="0" anchor="ctr"/>
          <a:lstStyle/>
          <a:p>
            <a:pPr marL="0" indent="0">
              <a:buNone/>
            </a:pPr>
            <a:r>
              <a:rPr lang="en-US" sz="3200" b="1" dirty="0">
                <a:solidFill>
                  <a:srgbClr val="17191A"/>
                </a:solidFill>
                <a:latin typeface="Trebuchet MS" pitchFamily="34" charset="0"/>
                <a:ea typeface="Trebuchet MS" pitchFamily="34" charset="-122"/>
                <a:cs typeface="Trebuchet MS" pitchFamily="34" charset="-120"/>
              </a:rPr>
              <a:t>Built by the community</a:t>
            </a:r>
            <a:endParaRPr lang="en-US" sz="3200" dirty="0"/>
          </a:p>
        </p:txBody>
      </p:sp>
      <p:sp>
        <p:nvSpPr>
          <p:cNvPr id="7" name="Shape 3"/>
          <p:cNvSpPr/>
          <p:nvPr/>
        </p:nvSpPr>
        <p:spPr>
          <a:xfrm>
            <a:off x="6583680" y="2203704"/>
            <a:ext cx="118872" cy="118872"/>
          </a:xfrm>
          <a:prstGeom prst="ellipse">
            <a:avLst/>
          </a:prstGeom>
          <a:solidFill>
            <a:srgbClr val="0F766E"/>
          </a:solidFill>
          <a:ln/>
        </p:spPr>
      </p:sp>
      <p:sp>
        <p:nvSpPr>
          <p:cNvPr id="8" name="Text 4"/>
          <p:cNvSpPr/>
          <p:nvPr/>
        </p:nvSpPr>
        <p:spPr>
          <a:xfrm>
            <a:off x="6876288" y="2103120"/>
            <a:ext cx="464515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Anyone can add a spot — photos, details and location.</a:t>
            </a:r>
            <a:endParaRPr lang="en-US" sz="1500" dirty="0"/>
          </a:p>
        </p:txBody>
      </p:sp>
      <p:sp>
        <p:nvSpPr>
          <p:cNvPr id="9" name="Shape 5"/>
          <p:cNvSpPr/>
          <p:nvPr/>
        </p:nvSpPr>
        <p:spPr>
          <a:xfrm>
            <a:off x="6583680" y="3118104"/>
            <a:ext cx="118872" cy="118872"/>
          </a:xfrm>
          <a:prstGeom prst="ellipse">
            <a:avLst/>
          </a:prstGeom>
          <a:solidFill>
            <a:srgbClr val="0F766E"/>
          </a:solidFill>
          <a:ln/>
        </p:spPr>
      </p:sp>
      <p:sp>
        <p:nvSpPr>
          <p:cNvPr id="10" name="Text 6"/>
          <p:cNvSpPr/>
          <p:nvPr/>
        </p:nvSpPr>
        <p:spPr>
          <a:xfrm>
            <a:off x="6876288" y="3017520"/>
            <a:ext cx="464515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Ratings and reviews from real visitors.</a:t>
            </a:r>
            <a:endParaRPr lang="en-US" sz="1500" dirty="0"/>
          </a:p>
        </p:txBody>
      </p:sp>
      <p:sp>
        <p:nvSpPr>
          <p:cNvPr id="11" name="Shape 7"/>
          <p:cNvSpPr/>
          <p:nvPr/>
        </p:nvSpPr>
        <p:spPr>
          <a:xfrm>
            <a:off x="6583680" y="4032504"/>
            <a:ext cx="118872" cy="118872"/>
          </a:xfrm>
          <a:prstGeom prst="ellipse">
            <a:avLst/>
          </a:prstGeom>
          <a:solidFill>
            <a:srgbClr val="0F766E"/>
          </a:solidFill>
          <a:ln/>
        </p:spPr>
      </p:sp>
      <p:sp>
        <p:nvSpPr>
          <p:cNvPr id="12" name="Text 8"/>
          <p:cNvSpPr/>
          <p:nvPr/>
        </p:nvSpPr>
        <p:spPr>
          <a:xfrm>
            <a:off x="6876288" y="3931920"/>
            <a:ext cx="464515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Save favourites and add places straight to a trip.</a:t>
            </a:r>
            <a:endParaRPr lang="en-US" sz="1500" dirty="0"/>
          </a:p>
        </p:txBody>
      </p:sp>
      <p:sp>
        <p:nvSpPr>
          <p:cNvPr id="13" name="Text 9"/>
          <p:cNvSpPr/>
          <p:nvPr/>
        </p:nvSpPr>
        <p:spPr>
          <a:xfrm>
            <a:off x="6583680" y="4983480"/>
            <a:ext cx="4937760" cy="411480"/>
          </a:xfrm>
          <a:prstGeom prst="rect">
            <a:avLst/>
          </a:prstGeom>
          <a:noFill/>
          <a:ln/>
        </p:spPr>
        <p:txBody>
          <a:bodyPr wrap="square" lIns="0" tIns="0" rIns="0" bIns="0" rtlCol="0" anchor="ctr"/>
          <a:lstStyle/>
          <a:p>
            <a:pPr marL="0" indent="0">
              <a:buNone/>
            </a:pPr>
            <a:r>
              <a:rPr lang="en-US" sz="1600" b="1" dirty="0">
                <a:solidFill>
                  <a:srgbClr val="0F766E"/>
                </a:solidFill>
                <a:latin typeface="Trebuchet MS" pitchFamily="34" charset="0"/>
                <a:ea typeface="Trebuchet MS" pitchFamily="34" charset="-122"/>
                <a:cs typeface="Trebuchet MS" pitchFamily="34" charset="-120"/>
              </a:rPr>
              <a:t>Add it</a:t>
            </a:r>
            <a:r>
              <a:rPr lang="en-US" sz="1600" dirty="0">
                <a:solidFill>
                  <a:srgbClr val="9AA2A6"/>
                </a:solidFill>
                <a:latin typeface="Trebuchet MS" pitchFamily="34" charset="0"/>
                <a:ea typeface="Trebuchet MS" pitchFamily="34" charset="-122"/>
                <a:cs typeface="Trebuchet MS" pitchFamily="34" charset="-120"/>
              </a:rPr>
              <a:t>   ·   </a:t>
            </a:r>
            <a:r>
              <a:rPr lang="en-US" sz="1600" b="1" dirty="0">
                <a:solidFill>
                  <a:srgbClr val="0F766E"/>
                </a:solidFill>
                <a:latin typeface="Trebuchet MS" pitchFamily="34" charset="0"/>
                <a:ea typeface="Trebuchet MS" pitchFamily="34" charset="-122"/>
                <a:cs typeface="Trebuchet MS" pitchFamily="34" charset="-120"/>
              </a:rPr>
              <a:t>Review it</a:t>
            </a:r>
            <a:r>
              <a:rPr lang="en-US" sz="1600" dirty="0">
                <a:solidFill>
                  <a:srgbClr val="9AA2A6"/>
                </a:solidFill>
                <a:latin typeface="Trebuchet MS" pitchFamily="34" charset="0"/>
                <a:ea typeface="Trebuchet MS" pitchFamily="34" charset="-122"/>
                <a:cs typeface="Trebuchet MS" pitchFamily="34" charset="-120"/>
              </a:rPr>
              <a:t>   ·   </a:t>
            </a:r>
            <a:r>
              <a:rPr lang="en-US" sz="1600" b="1" dirty="0">
                <a:solidFill>
                  <a:srgbClr val="0F766E"/>
                </a:solidFill>
                <a:latin typeface="Trebuchet MS" pitchFamily="34" charset="0"/>
                <a:ea typeface="Trebuchet MS" pitchFamily="34" charset="-122"/>
                <a:cs typeface="Trebuchet MS" pitchFamily="34" charset="-120"/>
              </a:rPr>
              <a:t>Save 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6F3"/>
        </a:solidFill>
        <a:effectLst/>
      </p:bgPr>
    </p:bg>
    <p:spTree>
      <p:nvGrpSpPr>
        <p:cNvPr id="1" name=""/>
        <p:cNvGrpSpPr/>
        <p:nvPr/>
      </p:nvGrpSpPr>
      <p:grpSpPr>
        <a:xfrm>
          <a:off x="0" y="0"/>
          <a:ext cx="0" cy="0"/>
          <a:chOff x="0" y="0"/>
          <a:chExt cx="0" cy="0"/>
        </a:xfrm>
      </p:grpSpPr>
      <p:sp>
        <p:nvSpPr>
          <p:cNvPr id="2" name="Text 0"/>
          <p:cNvSpPr/>
          <p:nvPr/>
        </p:nvSpPr>
        <p:spPr>
          <a:xfrm>
            <a:off x="822960" y="685800"/>
            <a:ext cx="5669280" cy="640080"/>
          </a:xfrm>
          <a:prstGeom prst="rect">
            <a:avLst/>
          </a:prstGeom>
          <a:noFill/>
          <a:ln/>
        </p:spPr>
        <p:txBody>
          <a:bodyPr wrap="square" lIns="0" tIns="0" rIns="0" bIns="0" rtlCol="0" anchor="ctr"/>
          <a:lstStyle/>
          <a:p>
            <a:pPr marL="0" indent="0">
              <a:buNone/>
            </a:pPr>
            <a:r>
              <a:rPr lang="en-US" sz="3200" b="1" dirty="0">
                <a:solidFill>
                  <a:srgbClr val="17191A"/>
                </a:solidFill>
                <a:latin typeface="Trebuchet MS" pitchFamily="34" charset="0"/>
                <a:ea typeface="Trebuchet MS" pitchFamily="34" charset="-122"/>
                <a:cs typeface="Trebuchet MS" pitchFamily="34" charset="-120"/>
              </a:rPr>
              <a:t>Plan a trip with AI</a:t>
            </a:r>
            <a:endParaRPr lang="en-US" sz="3200" dirty="0"/>
          </a:p>
        </p:txBody>
      </p:sp>
      <p:sp>
        <p:nvSpPr>
          <p:cNvPr id="3" name="Shape 1"/>
          <p:cNvSpPr/>
          <p:nvPr/>
        </p:nvSpPr>
        <p:spPr>
          <a:xfrm>
            <a:off x="822960" y="2020824"/>
            <a:ext cx="118872" cy="118872"/>
          </a:xfrm>
          <a:prstGeom prst="ellipse">
            <a:avLst/>
          </a:prstGeom>
          <a:solidFill>
            <a:srgbClr val="0F766E"/>
          </a:solidFill>
          <a:ln/>
        </p:spPr>
      </p:sp>
      <p:sp>
        <p:nvSpPr>
          <p:cNvPr id="4" name="Text 2"/>
          <p:cNvSpPr/>
          <p:nvPr/>
        </p:nvSpPr>
        <p:spPr>
          <a:xfrm>
            <a:off x="1115568" y="1920240"/>
            <a:ext cx="510235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Tell it where, when, your interests and your budget.</a:t>
            </a:r>
            <a:endParaRPr lang="en-US" sz="1500" dirty="0"/>
          </a:p>
        </p:txBody>
      </p:sp>
      <p:sp>
        <p:nvSpPr>
          <p:cNvPr id="5" name="Shape 3"/>
          <p:cNvSpPr/>
          <p:nvPr/>
        </p:nvSpPr>
        <p:spPr>
          <a:xfrm>
            <a:off x="822960" y="2935224"/>
            <a:ext cx="118872" cy="118872"/>
          </a:xfrm>
          <a:prstGeom prst="ellipse">
            <a:avLst/>
          </a:prstGeom>
          <a:solidFill>
            <a:srgbClr val="0F766E"/>
          </a:solidFill>
          <a:ln/>
        </p:spPr>
      </p:sp>
      <p:sp>
        <p:nvSpPr>
          <p:cNvPr id="6" name="Text 4"/>
          <p:cNvSpPr/>
          <p:nvPr/>
        </p:nvSpPr>
        <p:spPr>
          <a:xfrm>
            <a:off x="1115568" y="2834640"/>
            <a:ext cx="510235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Gemini builds a day-by-day plan from approved spots.</a:t>
            </a:r>
            <a:endParaRPr lang="en-US" sz="1500" dirty="0"/>
          </a:p>
        </p:txBody>
      </p:sp>
      <p:sp>
        <p:nvSpPr>
          <p:cNvPr id="7" name="Shape 5"/>
          <p:cNvSpPr/>
          <p:nvPr/>
        </p:nvSpPr>
        <p:spPr>
          <a:xfrm>
            <a:off x="822960" y="3849624"/>
            <a:ext cx="118872" cy="118872"/>
          </a:xfrm>
          <a:prstGeom prst="ellipse">
            <a:avLst/>
          </a:prstGeom>
          <a:solidFill>
            <a:srgbClr val="0F766E"/>
          </a:solidFill>
          <a:ln/>
        </p:spPr>
      </p:sp>
      <p:sp>
        <p:nvSpPr>
          <p:cNvPr id="8" name="Text 6"/>
          <p:cNvSpPr/>
          <p:nvPr/>
        </p:nvSpPr>
        <p:spPr>
          <a:xfrm>
            <a:off x="1115568" y="3749040"/>
            <a:ext cx="510235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Every trip comes with a cost estimate.</a:t>
            </a:r>
            <a:endParaRPr lang="en-US" sz="1500" dirty="0"/>
          </a:p>
        </p:txBody>
      </p:sp>
      <p:sp>
        <p:nvSpPr>
          <p:cNvPr id="9" name="Shape 7"/>
          <p:cNvSpPr/>
          <p:nvPr/>
        </p:nvSpPr>
        <p:spPr>
          <a:xfrm>
            <a:off x="822960" y="4709160"/>
            <a:ext cx="3017520" cy="502920"/>
          </a:xfrm>
          <a:prstGeom prst="roundRect">
            <a:avLst>
              <a:gd name="adj" fmla="val 49091"/>
            </a:avLst>
          </a:prstGeom>
          <a:solidFill>
            <a:srgbClr val="E2EFED"/>
          </a:solidFill>
          <a:ln/>
        </p:spPr>
      </p:sp>
      <p:sp>
        <p:nvSpPr>
          <p:cNvPr id="10" name="Text 8"/>
          <p:cNvSpPr/>
          <p:nvPr/>
        </p:nvSpPr>
        <p:spPr>
          <a:xfrm>
            <a:off x="822960" y="4709160"/>
            <a:ext cx="3017520" cy="502920"/>
          </a:xfrm>
          <a:prstGeom prst="rect">
            <a:avLst/>
          </a:prstGeom>
          <a:noFill/>
          <a:ln/>
        </p:spPr>
        <p:txBody>
          <a:bodyPr wrap="square" lIns="0" tIns="0" rIns="0" bIns="0" rtlCol="0" anchor="ctr"/>
          <a:lstStyle/>
          <a:p>
            <a:pPr marL="0" indent="0" algn="ctr">
              <a:buNone/>
            </a:pPr>
            <a:r>
              <a:rPr lang="en-US" sz="1250" b="1" dirty="0">
                <a:solidFill>
                  <a:srgbClr val="0F766E"/>
                </a:solidFill>
                <a:latin typeface="Trebuchet MS" pitchFamily="34" charset="0"/>
                <a:ea typeface="Trebuchet MS" pitchFamily="34" charset="-122"/>
                <a:cs typeface="Trebuchet MS" pitchFamily="34" charset="-120"/>
              </a:rPr>
              <a:t>✦  Powered by Google Gemini</a:t>
            </a:r>
            <a:endParaRPr lang="en-US" sz="1250" dirty="0"/>
          </a:p>
        </p:txBody>
      </p:sp>
      <p:sp>
        <p:nvSpPr>
          <p:cNvPr id="11" name="Shape 9"/>
          <p:cNvSpPr/>
          <p:nvPr/>
        </p:nvSpPr>
        <p:spPr>
          <a:xfrm>
            <a:off x="6647688" y="841248"/>
            <a:ext cx="2512477" cy="5266944"/>
          </a:xfrm>
          <a:prstGeom prst="roundRect">
            <a:avLst>
              <a:gd name="adj" fmla="val 4367"/>
            </a:avLst>
          </a:prstGeom>
          <a:solidFill>
            <a:srgbClr val="17191A"/>
          </a:solidFill>
          <a:ln w="12700">
            <a:solidFill>
              <a:srgbClr val="17191A"/>
            </a:solidFill>
            <a:prstDash val="solid"/>
          </a:ln>
          <a:effectLst>
            <a:outerShdw blurRad="152400" dist="63500" dir="5400000" algn="bl" rotWithShape="0">
              <a:srgbClr val="000000">
                <a:alpha val="28000"/>
              </a:srgbClr>
            </a:outerShdw>
          </a:effectLst>
        </p:spPr>
      </p:sp>
      <p:pic>
        <p:nvPicPr>
          <p:cNvPr id="12" name="Image 0" descr="/tmp/spotwise_deck/05_ai_planner.png"/>
          <p:cNvPicPr>
            <a:picLocks noChangeAspect="1"/>
          </p:cNvPicPr>
          <p:nvPr/>
        </p:nvPicPr>
        <p:blipFill>
          <a:blip r:embed="rId3"/>
          <a:stretch>
            <a:fillRect/>
          </a:stretch>
        </p:blipFill>
        <p:spPr>
          <a:xfrm>
            <a:off x="6720840" y="914400"/>
            <a:ext cx="2366173" cy="5120640"/>
          </a:xfrm>
          <a:prstGeom prst="rect">
            <a:avLst/>
          </a:prstGeom>
        </p:spPr>
      </p:pic>
      <p:sp>
        <p:nvSpPr>
          <p:cNvPr id="13" name="Shape 10"/>
          <p:cNvSpPr/>
          <p:nvPr/>
        </p:nvSpPr>
        <p:spPr>
          <a:xfrm>
            <a:off x="9299448" y="841248"/>
            <a:ext cx="2512477" cy="5266944"/>
          </a:xfrm>
          <a:prstGeom prst="roundRect">
            <a:avLst>
              <a:gd name="adj" fmla="val 4367"/>
            </a:avLst>
          </a:prstGeom>
          <a:solidFill>
            <a:srgbClr val="17191A"/>
          </a:solidFill>
          <a:ln w="12700">
            <a:solidFill>
              <a:srgbClr val="17191A"/>
            </a:solidFill>
            <a:prstDash val="solid"/>
          </a:ln>
          <a:effectLst>
            <a:outerShdw blurRad="152400" dist="63500" dir="5400000" algn="bl" rotWithShape="0">
              <a:srgbClr val="000000">
                <a:alpha val="28000"/>
              </a:srgbClr>
            </a:outerShdw>
          </a:effectLst>
        </p:spPr>
      </p:sp>
      <p:pic>
        <p:nvPicPr>
          <p:cNvPr id="14" name="Image 1" descr="/tmp/spotwise_deck/07_trip_details.png"/>
          <p:cNvPicPr>
            <a:picLocks noChangeAspect="1"/>
          </p:cNvPicPr>
          <p:nvPr/>
        </p:nvPicPr>
        <p:blipFill>
          <a:blip r:embed="rId4"/>
          <a:stretch>
            <a:fillRect/>
          </a:stretch>
        </p:blipFill>
        <p:spPr>
          <a:xfrm>
            <a:off x="9372600" y="914400"/>
            <a:ext cx="2366173" cy="5120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6F3"/>
        </a:solidFill>
        <a:effectLst/>
      </p:bgPr>
    </p:bg>
    <p:spTree>
      <p:nvGrpSpPr>
        <p:cNvPr id="1" name=""/>
        <p:cNvGrpSpPr/>
        <p:nvPr/>
      </p:nvGrpSpPr>
      <p:grpSpPr>
        <a:xfrm>
          <a:off x="0" y="0"/>
          <a:ext cx="0" cy="0"/>
          <a:chOff x="0" y="0"/>
          <a:chExt cx="0" cy="0"/>
        </a:xfrm>
      </p:grpSpPr>
      <p:sp>
        <p:nvSpPr>
          <p:cNvPr id="2" name="Shape 0"/>
          <p:cNvSpPr/>
          <p:nvPr/>
        </p:nvSpPr>
        <p:spPr>
          <a:xfrm>
            <a:off x="841248" y="841248"/>
            <a:ext cx="2512477" cy="5266944"/>
          </a:xfrm>
          <a:prstGeom prst="roundRect">
            <a:avLst>
              <a:gd name="adj" fmla="val 4367"/>
            </a:avLst>
          </a:prstGeom>
          <a:solidFill>
            <a:srgbClr val="17191A"/>
          </a:solidFill>
          <a:ln w="12700">
            <a:solidFill>
              <a:srgbClr val="17191A"/>
            </a:solidFill>
            <a:prstDash val="solid"/>
          </a:ln>
          <a:effectLst>
            <a:outerShdw blurRad="152400" dist="63500" dir="5400000" algn="bl" rotWithShape="0">
              <a:srgbClr val="000000">
                <a:alpha val="28000"/>
              </a:srgbClr>
            </a:outerShdw>
          </a:effectLst>
        </p:spPr>
      </p:sp>
      <p:pic>
        <p:nvPicPr>
          <p:cNvPr id="3" name="Image 0" descr="/tmp/spotwise_deck/09_admin.png"/>
          <p:cNvPicPr>
            <a:picLocks noChangeAspect="1"/>
          </p:cNvPicPr>
          <p:nvPr/>
        </p:nvPicPr>
        <p:blipFill>
          <a:blip r:embed="rId3"/>
          <a:stretch>
            <a:fillRect/>
          </a:stretch>
        </p:blipFill>
        <p:spPr>
          <a:xfrm>
            <a:off x="914400" y="914400"/>
            <a:ext cx="2366173" cy="5120640"/>
          </a:xfrm>
          <a:prstGeom prst="rect">
            <a:avLst/>
          </a:prstGeom>
        </p:spPr>
      </p:pic>
      <p:sp>
        <p:nvSpPr>
          <p:cNvPr id="4" name="Text 1"/>
          <p:cNvSpPr/>
          <p:nvPr/>
        </p:nvSpPr>
        <p:spPr>
          <a:xfrm>
            <a:off x="4206240" y="868680"/>
            <a:ext cx="6858000" cy="640080"/>
          </a:xfrm>
          <a:prstGeom prst="rect">
            <a:avLst/>
          </a:prstGeom>
          <a:noFill/>
          <a:ln/>
        </p:spPr>
        <p:txBody>
          <a:bodyPr wrap="square" lIns="0" tIns="0" rIns="0" bIns="0" rtlCol="0" anchor="ctr"/>
          <a:lstStyle/>
          <a:p>
            <a:pPr marL="0" indent="0">
              <a:buNone/>
            </a:pPr>
            <a:r>
              <a:rPr lang="en-US" sz="3200" b="1" dirty="0">
                <a:solidFill>
                  <a:srgbClr val="17191A"/>
                </a:solidFill>
                <a:latin typeface="Trebuchet MS" pitchFamily="34" charset="0"/>
                <a:ea typeface="Trebuchet MS" pitchFamily="34" charset="-122"/>
                <a:cs typeface="Trebuchet MS" pitchFamily="34" charset="-120"/>
              </a:rPr>
              <a:t>Safe and well managed</a:t>
            </a:r>
            <a:endParaRPr lang="en-US" sz="3200" dirty="0"/>
          </a:p>
        </p:txBody>
      </p:sp>
      <p:sp>
        <p:nvSpPr>
          <p:cNvPr id="5" name="Shape 2"/>
          <p:cNvSpPr/>
          <p:nvPr/>
        </p:nvSpPr>
        <p:spPr>
          <a:xfrm>
            <a:off x="4206240" y="2112264"/>
            <a:ext cx="118872" cy="118872"/>
          </a:xfrm>
          <a:prstGeom prst="ellipse">
            <a:avLst/>
          </a:prstGeom>
          <a:solidFill>
            <a:srgbClr val="0F766E"/>
          </a:solidFill>
          <a:ln/>
        </p:spPr>
      </p:sp>
      <p:sp>
        <p:nvSpPr>
          <p:cNvPr id="6" name="Text 3"/>
          <p:cNvSpPr/>
          <p:nvPr/>
        </p:nvSpPr>
        <p:spPr>
          <a:xfrm>
            <a:off x="4498848" y="2011680"/>
            <a:ext cx="665683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Admins approve every new spot before it goes live.</a:t>
            </a:r>
            <a:endParaRPr lang="en-US" sz="1500" dirty="0"/>
          </a:p>
        </p:txBody>
      </p:sp>
      <p:sp>
        <p:nvSpPr>
          <p:cNvPr id="7" name="Shape 4"/>
          <p:cNvSpPr/>
          <p:nvPr/>
        </p:nvSpPr>
        <p:spPr>
          <a:xfrm>
            <a:off x="4206240" y="2843784"/>
            <a:ext cx="118872" cy="118872"/>
          </a:xfrm>
          <a:prstGeom prst="ellipse">
            <a:avLst/>
          </a:prstGeom>
          <a:solidFill>
            <a:srgbClr val="0F766E"/>
          </a:solidFill>
          <a:ln/>
        </p:spPr>
      </p:sp>
      <p:sp>
        <p:nvSpPr>
          <p:cNvPr id="8" name="Text 5"/>
          <p:cNvSpPr/>
          <p:nvPr/>
        </p:nvSpPr>
        <p:spPr>
          <a:xfrm>
            <a:off x="4498848" y="2743200"/>
            <a:ext cx="665683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Reports, user roles and category controls.</a:t>
            </a:r>
            <a:endParaRPr lang="en-US" sz="1500" dirty="0"/>
          </a:p>
        </p:txBody>
      </p:sp>
      <p:sp>
        <p:nvSpPr>
          <p:cNvPr id="9" name="Shape 6"/>
          <p:cNvSpPr/>
          <p:nvPr/>
        </p:nvSpPr>
        <p:spPr>
          <a:xfrm>
            <a:off x="4206240" y="3575304"/>
            <a:ext cx="118872" cy="118872"/>
          </a:xfrm>
          <a:prstGeom prst="ellipse">
            <a:avLst/>
          </a:prstGeom>
          <a:solidFill>
            <a:srgbClr val="0F766E"/>
          </a:solidFill>
          <a:ln/>
        </p:spPr>
      </p:sp>
      <p:sp>
        <p:nvSpPr>
          <p:cNvPr id="10" name="Text 7"/>
          <p:cNvSpPr/>
          <p:nvPr/>
        </p:nvSpPr>
        <p:spPr>
          <a:xfrm>
            <a:off x="4498848" y="3474720"/>
            <a:ext cx="6656832" cy="594360"/>
          </a:xfrm>
          <a:prstGeom prst="rect">
            <a:avLst/>
          </a:prstGeom>
          <a:noFill/>
          <a:ln/>
        </p:spPr>
        <p:txBody>
          <a:bodyPr wrap="square" lIns="0" tIns="0" rIns="0" bIns="0" rtlCol="0" anchor="t"/>
          <a:lstStyle/>
          <a:p>
            <a:pPr marL="0" indent="0">
              <a:buNone/>
            </a:pPr>
            <a:r>
              <a:rPr lang="en-US" sz="1500" dirty="0">
                <a:solidFill>
                  <a:srgbClr val="17191A"/>
                </a:solidFill>
                <a:latin typeface="Calibri" pitchFamily="34" charset="0"/>
                <a:ea typeface="Calibri" pitchFamily="34" charset="-122"/>
                <a:cs typeface="Calibri" pitchFamily="34" charset="-120"/>
              </a:rPr>
              <a:t>Live stats for the whole app.</a:t>
            </a:r>
            <a:endParaRPr lang="en-US" sz="1500" dirty="0"/>
          </a:p>
        </p:txBody>
      </p:sp>
      <p:sp>
        <p:nvSpPr>
          <p:cNvPr id="11" name="Text 8"/>
          <p:cNvSpPr/>
          <p:nvPr/>
        </p:nvSpPr>
        <p:spPr>
          <a:xfrm>
            <a:off x="4206240" y="4434840"/>
            <a:ext cx="2103120" cy="777240"/>
          </a:xfrm>
          <a:prstGeom prst="rect">
            <a:avLst/>
          </a:prstGeom>
          <a:noFill/>
          <a:ln/>
        </p:spPr>
        <p:txBody>
          <a:bodyPr wrap="square" lIns="0" tIns="0" rIns="0" bIns="0" rtlCol="0" anchor="ctr"/>
          <a:lstStyle/>
          <a:p>
            <a:pPr marL="0" indent="0">
              <a:buNone/>
            </a:pPr>
            <a:r>
              <a:rPr lang="en-US" sz="4400" b="1" dirty="0">
                <a:solidFill>
                  <a:srgbClr val="0F766E"/>
                </a:solidFill>
                <a:latin typeface="Trebuchet MS" pitchFamily="34" charset="0"/>
                <a:ea typeface="Trebuchet MS" pitchFamily="34" charset="-122"/>
                <a:cs typeface="Trebuchet MS" pitchFamily="34" charset="-120"/>
              </a:rPr>
              <a:t>3</a:t>
            </a:r>
            <a:endParaRPr lang="en-US" sz="4400" dirty="0"/>
          </a:p>
        </p:txBody>
      </p:sp>
      <p:sp>
        <p:nvSpPr>
          <p:cNvPr id="12" name="Text 9"/>
          <p:cNvSpPr/>
          <p:nvPr/>
        </p:nvSpPr>
        <p:spPr>
          <a:xfrm>
            <a:off x="4206240" y="5257800"/>
            <a:ext cx="2103120" cy="32004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pending review</a:t>
            </a:r>
            <a:endParaRPr lang="en-US" sz="1250" dirty="0"/>
          </a:p>
        </p:txBody>
      </p:sp>
      <p:sp>
        <p:nvSpPr>
          <p:cNvPr id="13" name="Text 10"/>
          <p:cNvSpPr/>
          <p:nvPr/>
        </p:nvSpPr>
        <p:spPr>
          <a:xfrm>
            <a:off x="6583680" y="4434840"/>
            <a:ext cx="2103120" cy="777240"/>
          </a:xfrm>
          <a:prstGeom prst="rect">
            <a:avLst/>
          </a:prstGeom>
          <a:noFill/>
          <a:ln/>
        </p:spPr>
        <p:txBody>
          <a:bodyPr wrap="square" lIns="0" tIns="0" rIns="0" bIns="0" rtlCol="0" anchor="ctr"/>
          <a:lstStyle/>
          <a:p>
            <a:pPr marL="0" indent="0">
              <a:buNone/>
            </a:pPr>
            <a:r>
              <a:rPr lang="en-US" sz="4400" b="1" dirty="0">
                <a:solidFill>
                  <a:srgbClr val="0F766E"/>
                </a:solidFill>
                <a:latin typeface="Trebuchet MS" pitchFamily="34" charset="0"/>
                <a:ea typeface="Trebuchet MS" pitchFamily="34" charset="-122"/>
                <a:cs typeface="Trebuchet MS" pitchFamily="34" charset="-120"/>
              </a:rPr>
              <a:t>0</a:t>
            </a:r>
            <a:endParaRPr lang="en-US" sz="4400" dirty="0"/>
          </a:p>
        </p:txBody>
      </p:sp>
      <p:sp>
        <p:nvSpPr>
          <p:cNvPr id="14" name="Text 11"/>
          <p:cNvSpPr/>
          <p:nvPr/>
        </p:nvSpPr>
        <p:spPr>
          <a:xfrm>
            <a:off x="6583680" y="5257800"/>
            <a:ext cx="2103120" cy="32004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open reports</a:t>
            </a:r>
            <a:endParaRPr lang="en-US" sz="1250" dirty="0"/>
          </a:p>
        </p:txBody>
      </p:sp>
      <p:sp>
        <p:nvSpPr>
          <p:cNvPr id="15" name="Text 12"/>
          <p:cNvSpPr/>
          <p:nvPr/>
        </p:nvSpPr>
        <p:spPr>
          <a:xfrm>
            <a:off x="8961120" y="4434840"/>
            <a:ext cx="2103120" cy="777240"/>
          </a:xfrm>
          <a:prstGeom prst="rect">
            <a:avLst/>
          </a:prstGeom>
          <a:noFill/>
          <a:ln/>
        </p:spPr>
        <p:txBody>
          <a:bodyPr wrap="square" lIns="0" tIns="0" rIns="0" bIns="0" rtlCol="0" anchor="ctr"/>
          <a:lstStyle/>
          <a:p>
            <a:pPr marL="0" indent="0">
              <a:buNone/>
            </a:pPr>
            <a:r>
              <a:rPr lang="en-US" sz="4400" b="1" dirty="0">
                <a:solidFill>
                  <a:srgbClr val="0F766E"/>
                </a:solidFill>
                <a:latin typeface="Trebuchet MS" pitchFamily="34" charset="0"/>
                <a:ea typeface="Trebuchet MS" pitchFamily="34" charset="-122"/>
                <a:cs typeface="Trebuchet MS" pitchFamily="34" charset="-120"/>
              </a:rPr>
              <a:t>62</a:t>
            </a:r>
            <a:endParaRPr lang="en-US" sz="4400" dirty="0"/>
          </a:p>
        </p:txBody>
      </p:sp>
      <p:sp>
        <p:nvSpPr>
          <p:cNvPr id="16" name="Text 13"/>
          <p:cNvSpPr/>
          <p:nvPr/>
        </p:nvSpPr>
        <p:spPr>
          <a:xfrm>
            <a:off x="8961120" y="5257800"/>
            <a:ext cx="2103120" cy="320040"/>
          </a:xfrm>
          <a:prstGeom prst="rect">
            <a:avLst/>
          </a:prstGeom>
          <a:noFill/>
          <a:ln/>
        </p:spPr>
        <p:txBody>
          <a:bodyPr wrap="square" lIns="0" tIns="0" rIns="0" bIns="0" rtlCol="0" anchor="ctr"/>
          <a:lstStyle/>
          <a:p>
            <a:pPr marL="0" indent="0">
              <a:buNone/>
            </a:pPr>
            <a:r>
              <a:rPr lang="en-US" sz="1250" dirty="0">
                <a:solidFill>
                  <a:srgbClr val="667075"/>
                </a:solidFill>
                <a:latin typeface="Calibri" pitchFamily="34" charset="0"/>
                <a:ea typeface="Calibri" pitchFamily="34" charset="-122"/>
                <a:cs typeface="Calibri" pitchFamily="34" charset="-120"/>
              </a:rPr>
              <a:t>live spots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822960" y="731520"/>
            <a:ext cx="384048" cy="384048"/>
          </a:xfrm>
          <a:prstGeom prst="roundRect">
            <a:avLst>
              <a:gd name="adj" fmla="val 21429"/>
            </a:avLst>
          </a:prstGeom>
          <a:solidFill>
            <a:srgbClr val="0F766E"/>
          </a:solidFill>
          <a:ln/>
        </p:spPr>
      </p:sp>
      <p:sp>
        <p:nvSpPr>
          <p:cNvPr id="3" name="Text 1"/>
          <p:cNvSpPr/>
          <p:nvPr/>
        </p:nvSpPr>
        <p:spPr>
          <a:xfrm>
            <a:off x="822960" y="731520"/>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S</a:t>
            </a:r>
            <a:endParaRPr lang="en-US" sz="1800" dirty="0"/>
          </a:p>
        </p:txBody>
      </p:sp>
      <p:sp>
        <p:nvSpPr>
          <p:cNvPr id="4" name="Text 2"/>
          <p:cNvSpPr/>
          <p:nvPr/>
        </p:nvSpPr>
        <p:spPr>
          <a:xfrm>
            <a:off x="1353312" y="731520"/>
            <a:ext cx="2286000" cy="384048"/>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SpotWise</a:t>
            </a:r>
            <a:endParaRPr lang="en-US" sz="1700" dirty="0"/>
          </a:p>
        </p:txBody>
      </p:sp>
      <p:sp>
        <p:nvSpPr>
          <p:cNvPr id="5" name="Text 3"/>
          <p:cNvSpPr/>
          <p:nvPr/>
        </p:nvSpPr>
        <p:spPr>
          <a:xfrm>
            <a:off x="822960" y="2286000"/>
            <a:ext cx="6400800" cy="914400"/>
          </a:xfrm>
          <a:prstGeom prst="rect">
            <a:avLst/>
          </a:prstGeom>
          <a:noFill/>
          <a:ln/>
        </p:spPr>
        <p:txBody>
          <a:bodyPr wrap="square" lIns="0" tIns="0" rIns="0" bIns="0" rtlCol="0" anchor="ctr"/>
          <a:lstStyle/>
          <a:p>
            <a:pPr marL="0" indent="0">
              <a:buNone/>
            </a:pPr>
            <a:r>
              <a:rPr lang="en-US" sz="4600" b="1" dirty="0">
                <a:solidFill>
                  <a:srgbClr val="FFFFFF"/>
                </a:solidFill>
                <a:latin typeface="Trebuchet MS" pitchFamily="34" charset="0"/>
                <a:ea typeface="Trebuchet MS" pitchFamily="34" charset="-122"/>
                <a:cs typeface="Trebuchet MS" pitchFamily="34" charset="-120"/>
              </a:rPr>
              <a:t>Thank you!</a:t>
            </a:r>
            <a:endParaRPr lang="en-US" sz="4600" dirty="0"/>
          </a:p>
        </p:txBody>
      </p:sp>
      <p:sp>
        <p:nvSpPr>
          <p:cNvPr id="6" name="Text 4"/>
          <p:cNvSpPr/>
          <p:nvPr/>
        </p:nvSpPr>
        <p:spPr>
          <a:xfrm>
            <a:off x="822960" y="3429000"/>
            <a:ext cx="5852160" cy="868680"/>
          </a:xfrm>
          <a:prstGeom prst="rect">
            <a:avLst/>
          </a:prstGeom>
          <a:noFill/>
          <a:ln/>
        </p:spPr>
        <p:txBody>
          <a:bodyPr wrap="square" lIns="0" tIns="0" rIns="0" bIns="0" rtlCol="0" anchor="ctr"/>
          <a:lstStyle/>
          <a:p>
            <a:pPr marL="0" indent="0">
              <a:buNone/>
            </a:pPr>
            <a:r>
              <a:rPr lang="en-US" sz="1550" dirty="0">
                <a:solidFill>
                  <a:srgbClr val="B7BDC0"/>
                </a:solidFill>
                <a:latin typeface="Calibri" pitchFamily="34" charset="0"/>
                <a:ea typeface="Calibri" pitchFamily="34" charset="-122"/>
                <a:cs typeface="Calibri" pitchFamily="34" charset="-120"/>
              </a:rPr>
              <a:t>SpotWise — real places from real travellers,</a:t>
            </a:r>
            <a:endParaRPr lang="en-US" sz="1550" dirty="0"/>
          </a:p>
          <a:p>
            <a:pPr marL="0" indent="0">
              <a:buNone/>
            </a:pPr>
            <a:r>
              <a:rPr lang="en-US" sz="1550" dirty="0">
                <a:solidFill>
                  <a:srgbClr val="B7BDC0"/>
                </a:solidFill>
                <a:latin typeface="Calibri" pitchFamily="34" charset="0"/>
                <a:ea typeface="Calibri" pitchFamily="34" charset="-122"/>
                <a:cs typeface="Calibri" pitchFamily="34" charset="-120"/>
              </a:rPr>
              <a:t>turned into trips by AI.</a:t>
            </a:r>
            <a:endParaRPr lang="en-US" sz="1550" dirty="0"/>
          </a:p>
        </p:txBody>
      </p:sp>
      <p:sp>
        <p:nvSpPr>
          <p:cNvPr id="7" name="Text 5"/>
          <p:cNvSpPr/>
          <p:nvPr/>
        </p:nvSpPr>
        <p:spPr>
          <a:xfrm>
            <a:off x="822960" y="4572000"/>
            <a:ext cx="5852160" cy="365760"/>
          </a:xfrm>
          <a:prstGeom prst="rect">
            <a:avLst/>
          </a:prstGeom>
          <a:noFill/>
          <a:ln/>
        </p:spPr>
        <p:txBody>
          <a:bodyPr wrap="square" lIns="0" tIns="0" rIns="0" bIns="0" rtlCol="0" anchor="ctr"/>
          <a:lstStyle/>
          <a:p>
            <a:pPr marL="0" indent="0">
              <a:buNone/>
            </a:pPr>
            <a:r>
              <a:rPr lang="en-US" sz="1300" b="1" dirty="0">
                <a:solidFill>
                  <a:srgbClr val="0F766E"/>
                </a:solidFill>
                <a:latin typeface="Trebuchet MS" pitchFamily="34" charset="0"/>
                <a:ea typeface="Trebuchet MS" pitchFamily="34" charset="-122"/>
                <a:cs typeface="Trebuchet MS" pitchFamily="34" charset="-120"/>
              </a:rPr>
              <a:t>Flutter   ·   Firebase   ·   OpenStreetMap   ·   Google Gemini</a:t>
            </a:r>
            <a:endParaRPr lang="en-US" sz="1300" dirty="0"/>
          </a:p>
        </p:txBody>
      </p:sp>
      <p:sp>
        <p:nvSpPr>
          <p:cNvPr id="8" name="Shape 6"/>
          <p:cNvSpPr/>
          <p:nvPr/>
        </p:nvSpPr>
        <p:spPr>
          <a:xfrm>
            <a:off x="8933688" y="841248"/>
            <a:ext cx="2512477" cy="5266944"/>
          </a:xfrm>
          <a:prstGeom prst="roundRect">
            <a:avLst>
              <a:gd name="adj" fmla="val 4367"/>
            </a:avLst>
          </a:prstGeom>
          <a:solidFill>
            <a:srgbClr val="212729"/>
          </a:solidFill>
          <a:ln w="9525">
            <a:solidFill>
              <a:srgbClr val="3A4144"/>
            </a:solidFill>
            <a:prstDash val="solid"/>
          </a:ln>
          <a:effectLst>
            <a:outerShdw blurRad="152400" dist="63500" dir="5400000" algn="bl" rotWithShape="0">
              <a:srgbClr val="000000">
                <a:alpha val="28000"/>
              </a:srgbClr>
            </a:outerShdw>
          </a:effectLst>
        </p:spPr>
      </p:sp>
      <p:pic>
        <p:nvPicPr>
          <p:cNvPr id="9" name="Image 0" descr="/tmp/spotwise_deck/11_onboarding_ai.png"/>
          <p:cNvPicPr>
            <a:picLocks noChangeAspect="1"/>
          </p:cNvPicPr>
          <p:nvPr/>
        </p:nvPicPr>
        <p:blipFill>
          <a:blip r:embed="rId3"/>
          <a:stretch>
            <a:fillRect/>
          </a:stretch>
        </p:blipFill>
        <p:spPr>
          <a:xfrm>
            <a:off x="9006840" y="914400"/>
            <a:ext cx="2366173" cy="5120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1445</Words>
  <Application>Microsoft Macintosh PowerPoint</Application>
  <PresentationFormat>Widescreen</PresentationFormat>
  <Paragraphs>91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SpotWise — App Overview</dc:title>
  <dc:subject>PptxGenJS Presentation</dc:subject>
  <dc:creator>Ramez Milad</dc:creator>
  <cp:lastModifiedBy>Ramez Milad Malak</cp:lastModifiedBy>
  <cp:revision>3</cp:revision>
  <dcterms:created xsi:type="dcterms:W3CDTF">2026-06-12T09:46:33Z</dcterms:created>
  <dcterms:modified xsi:type="dcterms:W3CDTF">2026-06-12T09:52:22Z</dcterms:modified>
</cp:coreProperties>
</file>